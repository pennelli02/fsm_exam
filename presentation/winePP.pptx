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59" r:id="rId6"/>
    <p:sldId id="274" r:id="rId7"/>
    <p:sldId id="260" r:id="rId8"/>
    <p:sldId id="261" r:id="rId9"/>
    <p:sldId id="262" r:id="rId10"/>
    <p:sldId id="263" r:id="rId11"/>
    <p:sldId id="264" r:id="rId12"/>
    <p:sldId id="275" r:id="rId13"/>
    <p:sldId id="276" r:id="rId14"/>
    <p:sldId id="277" r:id="rId15"/>
    <p:sldId id="278" r:id="rId16"/>
    <p:sldId id="265" r:id="rId17"/>
    <p:sldId id="279" r:id="rId18"/>
    <p:sldId id="266" r:id="rId19"/>
    <p:sldId id="280" r:id="rId20"/>
    <p:sldId id="267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F84338-E17C-3F21-1A57-BF6D900A97A3}" v="387" dt="2026-02-22T11:01:01.9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Stile chiaro 2 - Color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Stile chiaro 1 - Color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22.02.2026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22.02.2026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22.02.2026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22.02.2026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22.02.2026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22.02.2026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22.02.2026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22.02.2026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22.02.2026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22.02.2026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22.02.2026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22.02.2026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 descr="Immagine che contiene frutto, uva, Frutto senza semi, Foglie di vite&#10;&#10;Il contenuto generato dall&amp;#39;IA potrebbe non essere corretto.">
            <a:extLst>
              <a:ext uri="{FF2B5EF4-FFF2-40B4-BE49-F238E27FC236}">
                <a16:creationId xmlns:a16="http://schemas.microsoft.com/office/drawing/2014/main" id="{7A47B8D7-659E-1901-850B-93C7D66209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19" r="2808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77981" y="533983"/>
            <a:ext cx="6145385" cy="3204134"/>
          </a:xfrm>
        </p:spPr>
        <p:txBody>
          <a:bodyPr anchor="b">
            <a:normAutofit/>
          </a:bodyPr>
          <a:lstStyle/>
          <a:p>
            <a:pPr algn="l"/>
            <a:r>
              <a:rPr lang="de-DE" sz="4800" dirty="0" err="1">
                <a:ea typeface="+mj-lt"/>
                <a:cs typeface="+mj-lt"/>
              </a:rPr>
              <a:t>Analisi</a:t>
            </a:r>
            <a:r>
              <a:rPr lang="de-DE" sz="4800" dirty="0">
                <a:ea typeface="+mj-lt"/>
                <a:cs typeface="+mj-lt"/>
              </a:rPr>
              <a:t> e </a:t>
            </a:r>
            <a:r>
              <a:rPr lang="de-DE" sz="4800" dirty="0" err="1">
                <a:ea typeface="+mj-lt"/>
                <a:cs typeface="+mj-lt"/>
              </a:rPr>
              <a:t>Modellazione</a:t>
            </a:r>
            <a:r>
              <a:rPr lang="de-DE" sz="4800" dirty="0">
                <a:ea typeface="+mj-lt"/>
                <a:cs typeface="+mj-lt"/>
              </a:rPr>
              <a:t> </a:t>
            </a:r>
            <a:r>
              <a:rPr lang="de-DE" sz="4800" dirty="0" err="1">
                <a:ea typeface="+mj-lt"/>
                <a:cs typeface="+mj-lt"/>
              </a:rPr>
              <a:t>statistica</a:t>
            </a:r>
            <a:r>
              <a:rPr lang="de-DE" sz="4800" dirty="0">
                <a:ea typeface="+mj-lt"/>
                <a:cs typeface="+mj-lt"/>
              </a:rPr>
              <a:t> </a:t>
            </a:r>
            <a:r>
              <a:rPr lang="de-DE" sz="4800" dirty="0" err="1">
                <a:ea typeface="+mj-lt"/>
                <a:cs typeface="+mj-lt"/>
              </a:rPr>
              <a:t>su</a:t>
            </a:r>
            <a:r>
              <a:rPr lang="de-DE" sz="4800" dirty="0">
                <a:ea typeface="+mj-lt"/>
                <a:cs typeface="+mj-lt"/>
              </a:rPr>
              <a:t> </a:t>
            </a:r>
            <a:r>
              <a:rPr lang="de-DE" sz="4800" dirty="0" err="1">
                <a:ea typeface="+mj-lt"/>
                <a:cs typeface="+mj-lt"/>
              </a:rPr>
              <a:t>Wine</a:t>
            </a:r>
            <a:r>
              <a:rPr lang="de-DE" sz="4800" dirty="0">
                <a:ea typeface="+mj-lt"/>
                <a:cs typeface="+mj-lt"/>
              </a:rPr>
              <a:t> Dataset</a:t>
            </a:r>
            <a:endParaRPr lang="it-IT" dirty="0">
              <a:ea typeface="+mj-lt"/>
              <a:cs typeface="+mj-lt"/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5209763" cy="120814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it-IT" sz="1900" b="1" dirty="0"/>
              <a:t>Progetto di </a:t>
            </a:r>
            <a:r>
              <a:rPr lang="it-IT" sz="1900" b="1" err="1"/>
              <a:t>Foundations</a:t>
            </a:r>
            <a:r>
              <a:rPr lang="it-IT" sz="1900" b="1" dirty="0"/>
              <a:t> Statistical </a:t>
            </a:r>
            <a:r>
              <a:rPr lang="it-IT" sz="1900" b="1" err="1"/>
              <a:t>Modelling</a:t>
            </a:r>
            <a:endParaRPr lang="it-IT" sz="1900" b="1"/>
          </a:p>
          <a:p>
            <a:pPr algn="l"/>
            <a:r>
              <a:rPr lang="it-IT" sz="1700" dirty="0"/>
              <a:t>Pennelli Lorenzo Maria</a:t>
            </a:r>
          </a:p>
          <a:p>
            <a:pPr algn="l"/>
            <a:r>
              <a:rPr lang="it-IT" sz="1700" err="1"/>
              <a:t>N.Matricola</a:t>
            </a:r>
            <a:r>
              <a:rPr lang="it-IT" sz="1700" dirty="0"/>
              <a:t>: </a:t>
            </a:r>
            <a:r>
              <a:rPr lang="it-IT" sz="1700" dirty="0">
                <a:solidFill>
                  <a:srgbClr val="000000"/>
                </a:solidFill>
                <a:latin typeface="Aptos" panose="020B0004020202020204"/>
                <a:cs typeface="Arial"/>
              </a:rPr>
              <a:t>7197316</a:t>
            </a:r>
            <a:endParaRPr lang="it-IT" sz="1700">
              <a:solidFill>
                <a:srgbClr val="000000"/>
              </a:solidFill>
              <a:latin typeface="Aptos" panose="020B000402020202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egnaposto contenuto 3" descr="Immagine che contiene frutto, uva, Frutto senza semi, Foglie di vite&#10;&#10;Il contenuto generato dall&amp;#39;IA potrebbe non essere corretto.">
            <a:extLst>
              <a:ext uri="{FF2B5EF4-FFF2-40B4-BE49-F238E27FC236}">
                <a16:creationId xmlns:a16="http://schemas.microsoft.com/office/drawing/2014/main" id="{C205A4B7-4696-17FA-3129-3197FA3B80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64" r="18636"/>
          <a:stretch>
            <a:fillRect/>
          </a:stretch>
        </p:blipFill>
        <p:spPr>
          <a:xfrm>
            <a:off x="3806517" y="10"/>
            <a:ext cx="866851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50811F8-7029-DF81-D495-661E649C5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it-IT" sz="3200" dirty="0"/>
              <a:t>Obiettivo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A2B1F8E-F722-AB47-33F8-5D8A7B9B1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80" y="3161750"/>
            <a:ext cx="5682175" cy="3207258"/>
          </a:xfrm>
        </p:spPr>
        <p:txBody>
          <a:bodyPr anchor="t">
            <a:normAutofit/>
          </a:bodyPr>
          <a:lstStyle/>
          <a:p>
            <a:r>
              <a:rPr lang="en-US" sz="2000" err="1"/>
              <a:t>Analizzare</a:t>
            </a:r>
            <a:r>
              <a:rPr lang="en-US" sz="2000" dirty="0"/>
              <a:t> Wine Dataset</a:t>
            </a:r>
          </a:p>
          <a:p>
            <a:r>
              <a:rPr lang="en-US" sz="2000" dirty="0" err="1"/>
              <a:t>Variabile</a:t>
            </a:r>
            <a:r>
              <a:rPr lang="en-US" sz="2000" dirty="0"/>
              <a:t> target </a:t>
            </a:r>
            <a:r>
              <a:rPr lang="en-US" sz="2000" b="1" dirty="0" err="1"/>
              <a:t>Intensità</a:t>
            </a:r>
            <a:r>
              <a:rPr lang="en-US" sz="2000" b="1" dirty="0"/>
              <a:t> di </a:t>
            </a:r>
            <a:r>
              <a:rPr lang="en-US" sz="2000" b="1" dirty="0" err="1"/>
              <a:t>colore</a:t>
            </a:r>
            <a:r>
              <a:rPr lang="en-US" sz="2000" dirty="0"/>
              <a:t> (</a:t>
            </a:r>
            <a:r>
              <a:rPr lang="en-US" sz="2000" b="1" dirty="0" err="1"/>
              <a:t>Clri</a:t>
            </a:r>
            <a:r>
              <a:rPr lang="en-US" sz="2000" dirty="0"/>
              <a:t>)</a:t>
            </a:r>
          </a:p>
          <a:p>
            <a:r>
              <a:rPr lang="en-US" sz="2000" dirty="0" err="1"/>
              <a:t>Analisi</a:t>
            </a:r>
            <a:r>
              <a:rPr lang="en-US" sz="2000" dirty="0"/>
              <a:t> </a:t>
            </a:r>
            <a:r>
              <a:rPr lang="en-US" sz="2000" dirty="0" err="1"/>
              <a:t>su</a:t>
            </a:r>
            <a:r>
              <a:rPr lang="en-US" sz="2000" dirty="0"/>
              <a:t> </a:t>
            </a:r>
            <a:r>
              <a:rPr lang="en-US" sz="2000" dirty="0" err="1"/>
              <a:t>popolazione</a:t>
            </a:r>
            <a:r>
              <a:rPr lang="en-US" sz="2000" dirty="0"/>
              <a:t> </a:t>
            </a:r>
            <a:r>
              <a:rPr lang="en-US" sz="2000" dirty="0" err="1"/>
              <a:t>totale</a:t>
            </a:r>
            <a:r>
              <a:rPr lang="en-US" sz="2000" dirty="0"/>
              <a:t> e </a:t>
            </a:r>
            <a:r>
              <a:rPr lang="en-US" sz="2000" dirty="0" err="1"/>
              <a:t>sottopopolazioni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12609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0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egnaposto contenuto 3" descr="Immagine che contiene frutto, uva, Frutto senza semi, Foglie di vite&#10;&#10;Il contenuto generato dall&amp;#39;IA potrebbe non essere corretto.">
            <a:extLst>
              <a:ext uri="{FF2B5EF4-FFF2-40B4-BE49-F238E27FC236}">
                <a16:creationId xmlns:a16="http://schemas.microsoft.com/office/drawing/2014/main" id="{AACB7B85-8272-2D93-7B7D-C4C233AAFA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64" r="18636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8" name="Rectangle 12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4E3AEE6-320E-9193-801F-A3FF3D974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it-IT" sz="3200" err="1"/>
              <a:t>Pre</a:t>
            </a:r>
            <a:r>
              <a:rPr lang="it-IT" sz="3200" dirty="0"/>
              <a:t>-Processing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49AC2C79-F08D-24F2-7A5E-87FC609D7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21" y="2718054"/>
            <a:ext cx="6612298" cy="3207258"/>
          </a:xfrm>
        </p:spPr>
        <p:txBody>
          <a:bodyPr anchor="t">
            <a:normAutofit/>
          </a:bodyPr>
          <a:lstStyle/>
          <a:p>
            <a:r>
              <a:rPr lang="en-US" sz="2000" dirty="0"/>
              <a:t>Visualizzazione del dataset</a:t>
            </a:r>
          </a:p>
          <a:p>
            <a:r>
              <a:rPr lang="en-US" sz="2000" err="1"/>
              <a:t>Preparazione</a:t>
            </a:r>
            <a:r>
              <a:rPr lang="en-US" sz="2000" dirty="0"/>
              <a:t> </a:t>
            </a:r>
            <a:r>
              <a:rPr lang="en-US" sz="2000" err="1"/>
              <a:t>dei</a:t>
            </a:r>
            <a:r>
              <a:rPr lang="en-US" sz="2000" dirty="0"/>
              <a:t> </a:t>
            </a:r>
            <a:r>
              <a:rPr lang="en-US" sz="2000" err="1"/>
              <a:t>dati</a:t>
            </a:r>
            <a:r>
              <a:rPr lang="en-US" sz="2000" dirty="0"/>
              <a:t> </a:t>
            </a:r>
          </a:p>
          <a:p>
            <a:r>
              <a:rPr lang="en-US" sz="2000" err="1"/>
              <a:t>Rimozione</a:t>
            </a:r>
            <a:r>
              <a:rPr lang="en-US" sz="2000" dirty="0"/>
              <a:t> della </a:t>
            </a:r>
            <a:r>
              <a:rPr lang="en-US" sz="2000" err="1"/>
              <a:t>variabile</a:t>
            </a:r>
            <a:r>
              <a:rPr lang="en-US" sz="2000" dirty="0"/>
              <a:t> </a:t>
            </a:r>
            <a:r>
              <a:rPr lang="en-US" sz="2000" b="1" dirty="0"/>
              <a:t>Cult</a:t>
            </a:r>
          </a:p>
          <a:p>
            <a:r>
              <a:rPr lang="en-US" sz="2000" err="1"/>
              <a:t>Suddivisione</a:t>
            </a:r>
            <a:r>
              <a:rPr lang="en-US" sz="2000" dirty="0"/>
              <a:t> in </a:t>
            </a:r>
            <a:r>
              <a:rPr lang="en-US" sz="2000" err="1"/>
              <a:t>sottopolazioni</a:t>
            </a:r>
            <a:r>
              <a:rPr lang="en-US" sz="2000" dirty="0"/>
              <a:t> in base al </a:t>
            </a:r>
            <a:r>
              <a:rPr lang="en-US" sz="2000" err="1"/>
              <a:t>tipo</a:t>
            </a:r>
            <a:r>
              <a:rPr lang="en-US" sz="2000" dirty="0"/>
              <a:t> di cultivar (V1, V2, V3)</a:t>
            </a:r>
          </a:p>
        </p:txBody>
      </p:sp>
    </p:spTree>
    <p:extLst>
      <p:ext uri="{BB962C8B-B14F-4D97-AF65-F5344CB8AC3E}">
        <p14:creationId xmlns:p14="http://schemas.microsoft.com/office/powerpoint/2010/main" val="77658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10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614DEE3-FDAF-A961-FA0F-8EB4993F4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470365"/>
            <a:ext cx="10175631" cy="1111843"/>
          </a:xfrm>
        </p:spPr>
        <p:txBody>
          <a:bodyPr anchor="ctr">
            <a:normAutofit/>
          </a:bodyPr>
          <a:lstStyle/>
          <a:p>
            <a:pPr algn="ctr"/>
            <a:r>
              <a:rPr lang="it-IT" sz="4000" dirty="0"/>
              <a:t>Approccio</a:t>
            </a:r>
            <a:r>
              <a:rPr lang="it-IT" sz="4000"/>
              <a:t> </a:t>
            </a:r>
            <a:r>
              <a:rPr lang="it-IT" sz="4000" dirty="0"/>
              <a:t>metodologico</a:t>
            </a:r>
            <a:endParaRPr lang="it-IT" sz="4000"/>
          </a:p>
        </p:txBody>
      </p:sp>
      <p:pic>
        <p:nvPicPr>
          <p:cNvPr id="4" name="Segnaposto contenuto 3" descr="Immagine che contiene testo, diagramma, Carattere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A4767D5D-1970-97F6-AD7D-309F64818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04" y="2200735"/>
            <a:ext cx="11055345" cy="245613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9936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egnaposto contenuto 3" descr="Immagine che contiene frutto, uva, Frutto senza semi, Foglie di vite&#10;&#10;Il contenuto generato dall&amp;#39;IA potrebbe non essere corretto.">
            <a:extLst>
              <a:ext uri="{FF2B5EF4-FFF2-40B4-BE49-F238E27FC236}">
                <a16:creationId xmlns:a16="http://schemas.microsoft.com/office/drawing/2014/main" id="{2257B114-4F22-DAC8-3810-4AAC80E7FC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64" r="18636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078DDD8-D7B5-DF4D-5A92-CE9BE3D00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it-IT" sz="3200" dirty="0"/>
              <a:t>Analisi Esplorativa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A3166D-8CE1-593E-FB61-9122390F9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21" y="2718054"/>
            <a:ext cx="5011134" cy="363166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 err="1"/>
              <a:t>Statistiche</a:t>
            </a:r>
            <a:r>
              <a:rPr lang="en-US" sz="2000" dirty="0"/>
              <a:t> </a:t>
            </a:r>
            <a:r>
              <a:rPr lang="en-US" sz="2000" dirty="0" err="1"/>
              <a:t>descrittive</a:t>
            </a:r>
            <a:endParaRPr lang="en-US" sz="2000" dirty="0"/>
          </a:p>
          <a:p>
            <a:r>
              <a:rPr lang="en-US" sz="2000" dirty="0"/>
              <a:t>Density plot</a:t>
            </a:r>
          </a:p>
          <a:p>
            <a:r>
              <a:rPr lang="en-US" sz="2000" dirty="0"/>
              <a:t>Boxplot</a:t>
            </a:r>
          </a:p>
          <a:p>
            <a:r>
              <a:rPr lang="en-US" sz="2000" err="1"/>
              <a:t>Matrici</a:t>
            </a:r>
            <a:r>
              <a:rPr lang="en-US" sz="2000" dirty="0"/>
              <a:t> Scatterplot</a:t>
            </a:r>
          </a:p>
          <a:p>
            <a:r>
              <a:rPr lang="en-US" sz="2000" err="1">
                <a:ea typeface="+mn-lt"/>
                <a:cs typeface="+mn-lt"/>
              </a:rPr>
              <a:t>Matrici</a:t>
            </a:r>
            <a:r>
              <a:rPr lang="en-US" sz="2000" dirty="0">
                <a:ea typeface="+mn-lt"/>
                <a:cs typeface="+mn-lt"/>
              </a:rPr>
              <a:t> delle </a:t>
            </a:r>
            <a:r>
              <a:rPr lang="en-US" sz="2000" err="1">
                <a:ea typeface="+mn-lt"/>
                <a:cs typeface="+mn-lt"/>
              </a:rPr>
              <a:t>correlazioni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parziali</a:t>
            </a:r>
            <a:endParaRPr lang="en-US" sz="200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Heatmap delle </a:t>
            </a:r>
            <a:r>
              <a:rPr lang="en-US" sz="2000" err="1">
                <a:ea typeface="+mn-lt"/>
                <a:cs typeface="+mn-lt"/>
              </a:rPr>
              <a:t>correlazioni</a:t>
            </a:r>
            <a:endParaRPr lang="en-US" sz="2000">
              <a:ea typeface="+mn-lt"/>
              <a:cs typeface="+mn-lt"/>
            </a:endParaRPr>
          </a:p>
          <a:p>
            <a:endParaRPr lang="en-US" sz="2000" dirty="0"/>
          </a:p>
          <a:p>
            <a:pPr marL="0" indent="0">
              <a:buNone/>
            </a:pPr>
            <a:r>
              <a:rPr lang="en-US" sz="2400" dirty="0" err="1"/>
              <a:t>Risultati</a:t>
            </a:r>
            <a:r>
              <a:rPr lang="en-US" sz="2000" dirty="0"/>
              <a:t>: </a:t>
            </a:r>
            <a:r>
              <a:rPr lang="en-US" sz="2000" i="1" dirty="0" err="1"/>
              <a:t>associazioni</a:t>
            </a:r>
            <a:r>
              <a:rPr lang="en-US" sz="2000" i="1" dirty="0"/>
              <a:t> non </a:t>
            </a:r>
            <a:r>
              <a:rPr lang="en-US" sz="2000" i="1" dirty="0" err="1"/>
              <a:t>uniformi</a:t>
            </a:r>
            <a:r>
              <a:rPr lang="en-US" sz="2000" i="1" dirty="0"/>
              <a:t> </a:t>
            </a:r>
            <a:r>
              <a:rPr lang="en-US" sz="2000" i="1" dirty="0" err="1"/>
              <a:t>tra</a:t>
            </a:r>
            <a:r>
              <a:rPr lang="en-US" sz="2000" i="1" dirty="0"/>
              <a:t> </a:t>
            </a:r>
            <a:r>
              <a:rPr lang="en-US" sz="2000" i="1" dirty="0" err="1"/>
              <a:t>i</a:t>
            </a:r>
            <a:r>
              <a:rPr lang="en-US" sz="2000" i="1" dirty="0"/>
              <a:t> </a:t>
            </a:r>
            <a:r>
              <a:rPr lang="en-US" sz="2000" i="1" dirty="0" err="1"/>
              <a:t>gruppi</a:t>
            </a:r>
            <a:r>
              <a:rPr lang="en-US" sz="2000" i="1" dirty="0"/>
              <a:t> (</a:t>
            </a:r>
            <a:r>
              <a:rPr lang="en-US" sz="2000" i="1" dirty="0" err="1"/>
              <a:t>successivo</a:t>
            </a:r>
            <a:r>
              <a:rPr lang="en-US" sz="2000" i="1" dirty="0"/>
              <a:t> focus </a:t>
            </a:r>
            <a:r>
              <a:rPr lang="en-US" sz="2000" i="1" dirty="0" err="1"/>
              <a:t>su</a:t>
            </a:r>
            <a:r>
              <a:rPr lang="en-US" sz="2000" i="1" dirty="0"/>
              <a:t> Cult)</a:t>
            </a:r>
            <a:endParaRPr lang="it-IT" sz="2000" i="1"/>
          </a:p>
        </p:txBody>
      </p:sp>
    </p:spTree>
    <p:extLst>
      <p:ext uri="{BB962C8B-B14F-4D97-AF65-F5344CB8AC3E}">
        <p14:creationId xmlns:p14="http://schemas.microsoft.com/office/powerpoint/2010/main" val="4037812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11B6D5-CB16-43C1-4B3D-8F347D45C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2846"/>
            <a:ext cx="10515600" cy="1325563"/>
          </a:xfrm>
        </p:spPr>
        <p:txBody>
          <a:bodyPr/>
          <a:lstStyle/>
          <a:p>
            <a:pPr algn="ctr"/>
            <a:r>
              <a:rPr lang="it-IT" dirty="0"/>
              <a:t>Statistiche descrittive </a:t>
            </a:r>
            <a:endParaRPr lang="it-IT"/>
          </a:p>
        </p:txBody>
      </p:sp>
      <p:graphicFrame>
        <p:nvGraphicFramePr>
          <p:cNvPr id="7" name="Segnaposto contenuto 6">
            <a:extLst>
              <a:ext uri="{FF2B5EF4-FFF2-40B4-BE49-F238E27FC236}">
                <a16:creationId xmlns:a16="http://schemas.microsoft.com/office/drawing/2014/main" id="{8F425666-7846-D5AF-B944-D408BC604C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4200071"/>
              </p:ext>
            </p:extLst>
          </p:nvPr>
        </p:nvGraphicFramePr>
        <p:xfrm>
          <a:off x="584790" y="1807534"/>
          <a:ext cx="11024692" cy="34635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574956">
                  <a:extLst>
                    <a:ext uri="{9D8B030D-6E8A-4147-A177-3AD203B41FA5}">
                      <a16:colId xmlns:a16="http://schemas.microsoft.com/office/drawing/2014/main" val="3971985677"/>
                    </a:ext>
                  </a:extLst>
                </a:gridCol>
                <a:gridCol w="1574956">
                  <a:extLst>
                    <a:ext uri="{9D8B030D-6E8A-4147-A177-3AD203B41FA5}">
                      <a16:colId xmlns:a16="http://schemas.microsoft.com/office/drawing/2014/main" val="2731614689"/>
                    </a:ext>
                  </a:extLst>
                </a:gridCol>
                <a:gridCol w="1574956">
                  <a:extLst>
                    <a:ext uri="{9D8B030D-6E8A-4147-A177-3AD203B41FA5}">
                      <a16:colId xmlns:a16="http://schemas.microsoft.com/office/drawing/2014/main" val="1771872155"/>
                    </a:ext>
                  </a:extLst>
                </a:gridCol>
                <a:gridCol w="1574956">
                  <a:extLst>
                    <a:ext uri="{9D8B030D-6E8A-4147-A177-3AD203B41FA5}">
                      <a16:colId xmlns:a16="http://schemas.microsoft.com/office/drawing/2014/main" val="1623215839"/>
                    </a:ext>
                  </a:extLst>
                </a:gridCol>
                <a:gridCol w="1574956">
                  <a:extLst>
                    <a:ext uri="{9D8B030D-6E8A-4147-A177-3AD203B41FA5}">
                      <a16:colId xmlns:a16="http://schemas.microsoft.com/office/drawing/2014/main" val="2898853106"/>
                    </a:ext>
                  </a:extLst>
                </a:gridCol>
                <a:gridCol w="1574956">
                  <a:extLst>
                    <a:ext uri="{9D8B030D-6E8A-4147-A177-3AD203B41FA5}">
                      <a16:colId xmlns:a16="http://schemas.microsoft.com/office/drawing/2014/main" val="3210062099"/>
                    </a:ext>
                  </a:extLst>
                </a:gridCol>
                <a:gridCol w="1574956">
                  <a:extLst>
                    <a:ext uri="{9D8B030D-6E8A-4147-A177-3AD203B41FA5}">
                      <a16:colId xmlns:a16="http://schemas.microsoft.com/office/drawing/2014/main" val="337025632"/>
                    </a:ext>
                  </a:extLst>
                </a:gridCol>
              </a:tblGrid>
              <a:tr h="692712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Casi Studio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Min.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1st Qu.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err="1"/>
                        <a:t>Median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3rd. Qu.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Max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2660545"/>
                  </a:ext>
                </a:extLst>
              </a:tr>
              <a:tr h="692712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Popolazione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1.280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3.220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4.690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5.058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6.200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13.000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1507202"/>
                  </a:ext>
                </a:extLst>
              </a:tr>
              <a:tr h="692712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Cult. v1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3.520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4.550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5.400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5.528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6.225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8.900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7930864"/>
                  </a:ext>
                </a:extLst>
              </a:tr>
              <a:tr h="692712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Cult. 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1.280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2.535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2.900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3.087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3.400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6.000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0816939"/>
                  </a:ext>
                </a:extLst>
              </a:tr>
              <a:tr h="692712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Cult. v3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3.850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5.438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7.550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7.396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9.225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13.000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6617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0585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Segnaposto contenuto 4" descr="Immagine che contiene testo, diagramma, Diagramm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8D9ACB68-5FC7-0179-D9FE-623B09B4A9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965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705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Segnaposto contenuto 14" descr="Immagine che contiene testo, diagramma, schermata, Piano&#10;&#10;Il contenuto generato dall&amp;#39;IA potrebbe non essere corretto.">
            <a:extLst>
              <a:ext uri="{FF2B5EF4-FFF2-40B4-BE49-F238E27FC236}">
                <a16:creationId xmlns:a16="http://schemas.microsoft.com/office/drawing/2014/main" id="{3F35D015-3B21-1853-97B7-1FDC69B1A0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0" y="1379727"/>
            <a:ext cx="12189580" cy="4088623"/>
          </a:xfrm>
          <a:prstGeom prst="rect">
            <a:avLst/>
          </a:prstGeom>
          <a:ln>
            <a:noFill/>
          </a:ln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F520758C-7DF7-D62F-2637-EE79B01FF9B1}"/>
              </a:ext>
            </a:extLst>
          </p:cNvPr>
          <p:cNvSpPr txBox="1"/>
          <p:nvPr/>
        </p:nvSpPr>
        <p:spPr>
          <a:xfrm>
            <a:off x="1908091" y="384339"/>
            <a:ext cx="837240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4000" dirty="0"/>
              <a:t>Grafici </a:t>
            </a:r>
            <a:r>
              <a:rPr lang="it-IT" sz="4000" dirty="0" err="1"/>
              <a:t>boxplot</a:t>
            </a:r>
            <a:endParaRPr lang="it-IT" sz="4000" dirty="0"/>
          </a:p>
        </p:txBody>
      </p:sp>
    </p:spTree>
    <p:extLst>
      <p:ext uri="{BB962C8B-B14F-4D97-AF65-F5344CB8AC3E}">
        <p14:creationId xmlns:p14="http://schemas.microsoft.com/office/powerpoint/2010/main" val="1916593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egnaposto contenuto 3" descr="Immagine che contiene frutto, uva, Frutto senza semi, Foglie di vite&#10;&#10;Il contenuto generato dall&amp;#39;IA potrebbe non essere corretto.">
            <a:extLst>
              <a:ext uri="{FF2B5EF4-FFF2-40B4-BE49-F238E27FC236}">
                <a16:creationId xmlns:a16="http://schemas.microsoft.com/office/drawing/2014/main" id="{CB979266-E890-09B6-F638-832681DDFE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64" r="18636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7F6AA4D-E021-ABA4-E7E4-127B53FBC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76" y="910503"/>
            <a:ext cx="3910777" cy="1124712"/>
          </a:xfrm>
        </p:spPr>
        <p:txBody>
          <a:bodyPr anchor="b">
            <a:normAutofit/>
          </a:bodyPr>
          <a:lstStyle/>
          <a:p>
            <a:r>
              <a:rPr lang="it-IT" sz="3200" dirty="0">
                <a:ea typeface="+mj-lt"/>
                <a:cs typeface="+mj-lt"/>
              </a:rPr>
              <a:t>Modelli Grafici Indiretti </a:t>
            </a:r>
            <a:endParaRPr lang="it-IT" sz="32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76A170-E249-9B5F-EFA5-356EF0D53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676" y="2452240"/>
            <a:ext cx="6431926" cy="3207258"/>
          </a:xfrm>
        </p:spPr>
        <p:txBody>
          <a:bodyPr anchor="t">
            <a:normAutofit/>
          </a:bodyPr>
          <a:lstStyle/>
          <a:p>
            <a:r>
              <a:rPr lang="en-US" sz="2000" err="1"/>
              <a:t>Gaussiana</a:t>
            </a:r>
            <a:r>
              <a:rPr lang="en-US" sz="2000" dirty="0"/>
              <a:t> </a:t>
            </a:r>
            <a:r>
              <a:rPr lang="en-US" sz="2000" err="1"/>
              <a:t>Multivariata</a:t>
            </a:r>
            <a:r>
              <a:rPr lang="en-US" sz="2000" dirty="0"/>
              <a:t> </a:t>
            </a:r>
          </a:p>
          <a:p>
            <a:r>
              <a:rPr lang="en-US" sz="2000" err="1"/>
              <a:t>Generazione</a:t>
            </a:r>
            <a:r>
              <a:rPr lang="en-US" sz="2000" dirty="0"/>
              <a:t> con </a:t>
            </a:r>
            <a:r>
              <a:rPr lang="en-US" sz="2000" b="1" err="1"/>
              <a:t>cmod</a:t>
            </a:r>
            <a:r>
              <a:rPr lang="en-US" sz="2000" b="1" dirty="0"/>
              <a:t>()</a:t>
            </a:r>
            <a:r>
              <a:rPr lang="en-US" sz="2000" dirty="0"/>
              <a:t> e </a:t>
            </a:r>
            <a:r>
              <a:rPr lang="en-US" sz="2000" b="1" dirty="0"/>
              <a:t>stepwise()</a:t>
            </a:r>
          </a:p>
          <a:p>
            <a:r>
              <a:rPr lang="en-US" sz="2000" err="1"/>
              <a:t>Selezione</a:t>
            </a:r>
            <a:r>
              <a:rPr lang="en-US" sz="2000" dirty="0"/>
              <a:t> </a:t>
            </a:r>
            <a:r>
              <a:rPr lang="en-US" sz="2000" err="1"/>
              <a:t>attraverso</a:t>
            </a:r>
            <a:r>
              <a:rPr lang="en-US" sz="2000" dirty="0"/>
              <a:t> </a:t>
            </a:r>
            <a:r>
              <a:rPr lang="en-US" sz="2000" b="1" dirty="0"/>
              <a:t>AIC, BIC </a:t>
            </a:r>
            <a:r>
              <a:rPr lang="en-US" sz="2000" dirty="0"/>
              <a:t>e </a:t>
            </a:r>
            <a:r>
              <a:rPr lang="en-US" sz="2000" b="1" dirty="0"/>
              <a:t>Graphical Lasso</a:t>
            </a:r>
          </a:p>
          <a:p>
            <a:r>
              <a:rPr lang="en-US" sz="2000" b="1" dirty="0"/>
              <a:t>Stepwise() </a:t>
            </a:r>
            <a:r>
              <a:rPr lang="en-US" sz="2000" dirty="0" err="1"/>
              <a:t>modalità</a:t>
            </a:r>
            <a:r>
              <a:rPr lang="en-US" sz="2000" dirty="0"/>
              <a:t> </a:t>
            </a:r>
            <a:r>
              <a:rPr lang="en-US" sz="2000" b="1" dirty="0"/>
              <a:t>Forward, Backward, Both</a:t>
            </a:r>
          </a:p>
          <a:p>
            <a:r>
              <a:rPr lang="en-US" sz="2000" dirty="0" err="1"/>
              <a:t>Processo</a:t>
            </a:r>
            <a:r>
              <a:rPr lang="en-US" sz="2000" dirty="0"/>
              <a:t> </a:t>
            </a:r>
            <a:r>
              <a:rPr lang="en-US" sz="2000" dirty="0" err="1"/>
              <a:t>sia</a:t>
            </a:r>
            <a:r>
              <a:rPr lang="en-US" sz="2000" dirty="0"/>
              <a:t> per </a:t>
            </a:r>
            <a:r>
              <a:rPr lang="en-US" sz="2000" dirty="0" err="1"/>
              <a:t>l'intera</a:t>
            </a:r>
            <a:r>
              <a:rPr lang="en-US" sz="2000" dirty="0"/>
              <a:t> </a:t>
            </a:r>
            <a:r>
              <a:rPr lang="en-US" sz="2000" dirty="0" err="1"/>
              <a:t>popolazione</a:t>
            </a:r>
            <a:r>
              <a:rPr lang="en-US" sz="2000" dirty="0"/>
              <a:t> </a:t>
            </a:r>
            <a:r>
              <a:rPr lang="en-US" sz="2000" dirty="0" err="1"/>
              <a:t>che</a:t>
            </a:r>
            <a:r>
              <a:rPr lang="en-US" sz="2000" dirty="0"/>
              <a:t> per cultivar</a:t>
            </a:r>
          </a:p>
          <a:p>
            <a:r>
              <a:rPr lang="en-US" sz="2000" err="1"/>
              <a:t>Analisi</a:t>
            </a:r>
            <a:r>
              <a:rPr lang="en-US" sz="2000" dirty="0"/>
              <a:t> </a:t>
            </a:r>
            <a:r>
              <a:rPr lang="en-US" sz="2000" err="1"/>
              <a:t>multivariata</a:t>
            </a:r>
            <a:r>
              <a:rPr lang="en-US" sz="2000" dirty="0"/>
              <a:t> e </a:t>
            </a:r>
            <a:r>
              <a:rPr lang="en-US" sz="2000" err="1"/>
              <a:t>riduzione</a:t>
            </a:r>
            <a:r>
              <a:rPr lang="en-US" sz="2000" dirty="0"/>
              <a:t> della </a:t>
            </a:r>
            <a:r>
              <a:rPr lang="en-US" sz="2000" err="1"/>
              <a:t>dimensionalità</a:t>
            </a:r>
            <a:r>
              <a:rPr lang="en-US" sz="2000" dirty="0"/>
              <a:t> del </a:t>
            </a:r>
            <a:r>
              <a:rPr lang="en-US" sz="2000" err="1"/>
              <a:t>problema</a:t>
            </a:r>
            <a:endParaRPr lang="en-US" sz="2000" dirty="0"/>
          </a:p>
          <a:p>
            <a:endParaRPr lang="en-US" sz="2000" b="1" dirty="0"/>
          </a:p>
          <a:p>
            <a:pPr marL="0" indent="0">
              <a:buNone/>
            </a:pPr>
            <a:endParaRPr lang="en-US" sz="1700" b="1" dirty="0"/>
          </a:p>
        </p:txBody>
      </p:sp>
      <p:pic>
        <p:nvPicPr>
          <p:cNvPr id="5" name="Immagine 4" descr="Immagine che contiene testo, Carattere, tipografia, calligrafia&#10;&#10;Il contenuto generato dall&amp;#39;IA potrebbe non essere corretto.">
            <a:extLst>
              <a:ext uri="{FF2B5EF4-FFF2-40B4-BE49-F238E27FC236}">
                <a16:creationId xmlns:a16="http://schemas.microsoft.com/office/drawing/2014/main" id="{2009770B-5347-4F78-22D6-844C0A64A4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7972" y="6211391"/>
            <a:ext cx="5173628" cy="644065"/>
          </a:xfrm>
          <a:prstGeom prst="rect">
            <a:avLst/>
          </a:prstGeom>
          <a:ln>
            <a:noFill/>
          </a:ln>
        </p:spPr>
      </p:pic>
      <p:pic>
        <p:nvPicPr>
          <p:cNvPr id="6" name="Immagine 5" descr="Immagine che contiene testo, Carattere, calligrafia, bianco&#10;&#10;Il contenuto generato dall&amp;#39;IA potrebbe non essere corretto.">
            <a:extLst>
              <a:ext uri="{FF2B5EF4-FFF2-40B4-BE49-F238E27FC236}">
                <a16:creationId xmlns:a16="http://schemas.microsoft.com/office/drawing/2014/main" id="{39C6155B-72AF-FBD6-B793-C03FF5D57A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-93" b="4167"/>
          <a:stretch>
            <a:fillRect/>
          </a:stretch>
        </p:blipFill>
        <p:spPr>
          <a:xfrm>
            <a:off x="2055174" y="5034107"/>
            <a:ext cx="2821548" cy="903597"/>
          </a:xfrm>
          <a:prstGeom prst="rect">
            <a:avLst/>
          </a:prstGeom>
          <a:ln>
            <a:noFill/>
          </a:ln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7A15014A-AFDF-24AD-ED65-8966A04BACBD}"/>
              </a:ext>
            </a:extLst>
          </p:cNvPr>
          <p:cNvSpPr txBox="1"/>
          <p:nvPr/>
        </p:nvSpPr>
        <p:spPr>
          <a:xfrm>
            <a:off x="2115579" y="6057945"/>
            <a:ext cx="302241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400" b="1" dirty="0"/>
              <a:t>Formula del </a:t>
            </a:r>
            <a:r>
              <a:rPr lang="it-IT" sz="1400" b="1" err="1"/>
              <a:t>Graphical</a:t>
            </a:r>
            <a:r>
              <a:rPr lang="it-IT" sz="1400" b="1" dirty="0"/>
              <a:t> Lasso</a:t>
            </a:r>
          </a:p>
        </p:txBody>
      </p:sp>
    </p:spTree>
    <p:extLst>
      <p:ext uri="{BB962C8B-B14F-4D97-AF65-F5344CB8AC3E}">
        <p14:creationId xmlns:p14="http://schemas.microsoft.com/office/powerpoint/2010/main" val="866876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72018E1B-E0B9-4440-AFF3-4112E50A2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FC3BD66-42BD-36EA-2547-A8DD0F22F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8"/>
            <a:ext cx="10515600" cy="18400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err="1">
                <a:latin typeface="+mj-lt"/>
                <a:ea typeface="+mj-ea"/>
                <a:cs typeface="+mj-cs"/>
              </a:rPr>
              <a:t>Risultati</a:t>
            </a:r>
            <a:r>
              <a:rPr lang="en-US" kern="1200" dirty="0">
                <a:latin typeface="+mj-lt"/>
                <a:ea typeface="+mj-ea"/>
                <a:cs typeface="+mj-cs"/>
              </a:rPr>
              <a:t> </a:t>
            </a:r>
            <a:r>
              <a:rPr lang="en-US" kern="1200" err="1">
                <a:latin typeface="+mj-lt"/>
                <a:ea typeface="+mj-ea"/>
                <a:cs typeface="+mj-cs"/>
              </a:rPr>
              <a:t>ottenuti</a:t>
            </a:r>
            <a:endParaRPr lang="it-IT" err="1">
              <a:ea typeface="+mj-ea"/>
              <a:cs typeface="+mj-cs"/>
            </a:endParaRPr>
          </a:p>
        </p:txBody>
      </p:sp>
      <p:pic>
        <p:nvPicPr>
          <p:cNvPr id="9" name="Immagine 8" descr="Immagine che contiene cerchio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52A76B48-AB5D-A670-5C0A-D0F1FA18A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" y="2375064"/>
            <a:ext cx="3038829" cy="33053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Immagine 9" descr="Immagine che contiene cerchio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672A5595-1DAB-12C1-F6F8-61089B459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919" y="2377539"/>
            <a:ext cx="2970692" cy="33053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Immagine 10" descr="Immagine che contiene diagramma, cerchio, schermata, design&#10;&#10;Il contenuto generato dall&amp;#39;IA potrebbe non essere corretto.">
            <a:extLst>
              <a:ext uri="{FF2B5EF4-FFF2-40B4-BE49-F238E27FC236}">
                <a16:creationId xmlns:a16="http://schemas.microsoft.com/office/drawing/2014/main" id="{7D4875D7-4CCD-2DB7-00DF-75ADD9483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0535" y="2370011"/>
            <a:ext cx="2931911" cy="33135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Immagine 11" descr="Immagine che contiene diagramma, cerchio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0256B5FD-86BA-CC44-B8A1-6B3D0CF228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4425" y="2371781"/>
            <a:ext cx="3239072" cy="33142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64911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egnaposto contenuto 3" descr="Immagine che contiene frutto, uva, Frutto senza semi, Foglie di vite&#10;&#10;Il contenuto generato dall&amp;#39;IA potrebbe non essere corretto.">
            <a:extLst>
              <a:ext uri="{FF2B5EF4-FFF2-40B4-BE49-F238E27FC236}">
                <a16:creationId xmlns:a16="http://schemas.microsoft.com/office/drawing/2014/main" id="{54B108FE-023F-219D-1499-26EB3CDB2E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59" r="5542"/>
          <a:stretch>
            <a:fillRect/>
          </a:stretch>
        </p:blipFill>
        <p:spPr>
          <a:xfrm>
            <a:off x="2856566" y="10"/>
            <a:ext cx="966964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C688868-61AD-9A3F-BC46-CA86B429B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779" y="1104897"/>
            <a:ext cx="3822189" cy="1218123"/>
          </a:xfrm>
        </p:spPr>
        <p:txBody>
          <a:bodyPr>
            <a:normAutofit/>
          </a:bodyPr>
          <a:lstStyle/>
          <a:p>
            <a:r>
              <a:rPr lang="it-IT" sz="3200" dirty="0"/>
              <a:t>Modelli Grafici Diretti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62DC87E-10BD-4305-2BD2-8949AAF1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779" y="2661464"/>
            <a:ext cx="6454551" cy="335004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000" dirty="0"/>
              <a:t>Nodi (</a:t>
            </a:r>
            <a:r>
              <a:rPr lang="en-US" sz="2000" dirty="0" err="1"/>
              <a:t>v.a</a:t>
            </a:r>
            <a:r>
              <a:rPr lang="en-US" sz="2000" dirty="0"/>
              <a:t>) </a:t>
            </a:r>
            <a:r>
              <a:rPr lang="en-US" sz="2000" dirty="0" err="1"/>
              <a:t>collegati</a:t>
            </a:r>
            <a:r>
              <a:rPr lang="en-US" sz="2000" dirty="0"/>
              <a:t> </a:t>
            </a:r>
            <a:r>
              <a:rPr lang="en-US" sz="2000" dirty="0" err="1"/>
              <a:t>tramite</a:t>
            </a:r>
            <a:r>
              <a:rPr lang="en-US" sz="2000" dirty="0"/>
              <a:t> </a:t>
            </a:r>
            <a:r>
              <a:rPr lang="en-US" sz="2000" dirty="0" err="1"/>
              <a:t>archi</a:t>
            </a:r>
            <a:r>
              <a:rPr lang="en-US" sz="2000" dirty="0"/>
              <a:t> </a:t>
            </a:r>
            <a:r>
              <a:rPr lang="en-US" sz="2000" dirty="0" err="1"/>
              <a:t>orientati</a:t>
            </a:r>
            <a:r>
              <a:rPr lang="en-US" sz="2000" dirty="0"/>
              <a:t> </a:t>
            </a:r>
            <a:r>
              <a:rPr lang="en-US" sz="2000" dirty="0" err="1"/>
              <a:t>aciclici</a:t>
            </a:r>
            <a:endParaRPr lang="en-US" sz="2000" dirty="0"/>
          </a:p>
          <a:p>
            <a:r>
              <a:rPr lang="en-US" sz="2000" err="1"/>
              <a:t>Generati</a:t>
            </a:r>
            <a:r>
              <a:rPr lang="en-US" sz="2000" dirty="0"/>
              <a:t> </a:t>
            </a:r>
            <a:r>
              <a:rPr lang="en-US" sz="2000" err="1"/>
              <a:t>usando</a:t>
            </a:r>
            <a:r>
              <a:rPr lang="en-US" sz="2000" dirty="0"/>
              <a:t> </a:t>
            </a:r>
            <a:r>
              <a:rPr lang="en-US" sz="2000" b="1" dirty="0"/>
              <a:t>Hill-Climbing</a:t>
            </a:r>
            <a:r>
              <a:rPr lang="en-US" sz="2000" dirty="0"/>
              <a:t> con </a:t>
            </a:r>
            <a:r>
              <a:rPr lang="en-US" sz="2000" b="1" dirty="0"/>
              <a:t>BIC-Score</a:t>
            </a:r>
            <a:endParaRPr lang="en-US" sz="2000" b="1"/>
          </a:p>
          <a:p>
            <a:r>
              <a:rPr lang="en-US" sz="2000" err="1"/>
              <a:t>Versione</a:t>
            </a:r>
            <a:r>
              <a:rPr lang="en-US" sz="2000" dirty="0"/>
              <a:t> con </a:t>
            </a:r>
            <a:r>
              <a:rPr lang="en-US" sz="2000" b="1" dirty="0"/>
              <a:t>Blacklist</a:t>
            </a:r>
            <a:r>
              <a:rPr lang="en-US" sz="2000" dirty="0"/>
              <a:t> e senza </a:t>
            </a:r>
            <a:endParaRPr lang="en-US" sz="2000"/>
          </a:p>
          <a:p>
            <a:r>
              <a:rPr lang="en-US" sz="2000" dirty="0" err="1"/>
              <a:t>Valutate</a:t>
            </a:r>
            <a:r>
              <a:rPr lang="en-US" sz="2000" dirty="0"/>
              <a:t> </a:t>
            </a:r>
            <a:r>
              <a:rPr lang="en-US" sz="2000" dirty="0" err="1"/>
              <a:t>tramite</a:t>
            </a:r>
            <a:r>
              <a:rPr lang="en-US" sz="2000" dirty="0"/>
              <a:t> la </a:t>
            </a:r>
            <a:r>
              <a:rPr lang="en-US" sz="2000" dirty="0" err="1"/>
              <a:t>funzione</a:t>
            </a:r>
            <a:r>
              <a:rPr lang="en-US" sz="2000" dirty="0"/>
              <a:t> </a:t>
            </a:r>
            <a:r>
              <a:rPr lang="en-US" sz="2000" b="1" dirty="0" err="1"/>
              <a:t>fitDag</a:t>
            </a:r>
            <a:r>
              <a:rPr lang="en-US" sz="2000" b="1" dirty="0"/>
              <a:t>()</a:t>
            </a:r>
            <a:endParaRPr lang="en-US" sz="2000" b="1"/>
          </a:p>
          <a:p>
            <a:r>
              <a:rPr lang="en-US" sz="2000" err="1">
                <a:ea typeface="+mn-lt"/>
                <a:cs typeface="+mn-lt"/>
              </a:rPr>
              <a:t>Identificare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possibili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relazioni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causali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tra</a:t>
            </a:r>
            <a:r>
              <a:rPr lang="en-US" sz="2000" dirty="0">
                <a:ea typeface="+mn-lt"/>
                <a:cs typeface="+mn-lt"/>
              </a:rPr>
              <a:t> le </a:t>
            </a:r>
            <a:r>
              <a:rPr lang="en-US" sz="2000" err="1">
                <a:ea typeface="+mn-lt"/>
                <a:cs typeface="+mn-lt"/>
              </a:rPr>
              <a:t>variabili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chimiche</a:t>
            </a:r>
            <a:r>
              <a:rPr lang="en-US" sz="2000" dirty="0">
                <a:ea typeface="+mn-lt"/>
                <a:cs typeface="+mn-lt"/>
              </a:rPr>
              <a:t> del vino</a:t>
            </a:r>
            <a:endParaRPr lang="en-US" sz="2000" dirty="0"/>
          </a:p>
          <a:p>
            <a:r>
              <a:rPr lang="en-US" sz="2000" err="1">
                <a:ea typeface="+mn-lt"/>
                <a:cs typeface="+mn-lt"/>
              </a:rPr>
              <a:t>Comprendere</a:t>
            </a:r>
            <a:r>
              <a:rPr lang="en-US" sz="2000" dirty="0">
                <a:ea typeface="+mn-lt"/>
                <a:cs typeface="+mn-lt"/>
              </a:rPr>
              <a:t> come diverse </a:t>
            </a:r>
            <a:r>
              <a:rPr lang="en-US" sz="2000" err="1">
                <a:ea typeface="+mn-lt"/>
                <a:cs typeface="+mn-lt"/>
              </a:rPr>
              <a:t>sostanze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influenzino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l’intensita</a:t>
            </a:r>
            <a:r>
              <a:rPr lang="en-US" sz="2000" dirty="0">
                <a:ea typeface="+mn-lt"/>
                <a:cs typeface="+mn-lt"/>
              </a:rPr>
              <a:t> del </a:t>
            </a:r>
            <a:r>
              <a:rPr lang="en-US" sz="2000" err="1">
                <a:ea typeface="+mn-lt"/>
                <a:cs typeface="+mn-lt"/>
              </a:rPr>
              <a:t>colore</a:t>
            </a:r>
            <a:r>
              <a:rPr lang="en-US" sz="2000" dirty="0">
                <a:ea typeface="+mn-lt"/>
                <a:cs typeface="+mn-lt"/>
              </a:rPr>
              <a:t> (</a:t>
            </a:r>
            <a:r>
              <a:rPr lang="en-US" sz="2000" b="1" err="1">
                <a:ea typeface="+mn-lt"/>
                <a:cs typeface="+mn-lt"/>
              </a:rPr>
              <a:t>Clri</a:t>
            </a:r>
            <a:r>
              <a:rPr lang="en-US" sz="2000" dirty="0">
                <a:ea typeface="+mn-lt"/>
                <a:cs typeface="+mn-lt"/>
              </a:rPr>
              <a:t>)</a:t>
            </a:r>
            <a:endParaRPr lang="en-US" sz="2000" dirty="0"/>
          </a:p>
          <a:p>
            <a:r>
              <a:rPr lang="en-US" sz="2000" dirty="0" err="1">
                <a:ea typeface="+mn-lt"/>
                <a:cs typeface="+mn-lt"/>
              </a:rPr>
              <a:t>Confrontare</a:t>
            </a:r>
            <a:r>
              <a:rPr lang="en-US" sz="2000" dirty="0">
                <a:ea typeface="+mn-lt"/>
                <a:cs typeface="+mn-lt"/>
              </a:rPr>
              <a:t> le </a:t>
            </a:r>
            <a:r>
              <a:rPr lang="en-US" sz="2000" dirty="0" err="1">
                <a:ea typeface="+mn-lt"/>
                <a:cs typeface="+mn-lt"/>
              </a:rPr>
              <a:t>strutture</a:t>
            </a:r>
            <a:r>
              <a:rPr lang="en-US" sz="2000" dirty="0">
                <a:ea typeface="+mn-lt"/>
                <a:cs typeface="+mn-lt"/>
              </a:rPr>
              <a:t> di </a:t>
            </a:r>
            <a:r>
              <a:rPr lang="en-US" sz="2000" dirty="0" err="1">
                <a:ea typeface="+mn-lt"/>
                <a:cs typeface="+mn-lt"/>
              </a:rPr>
              <a:t>dipendenza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tra</a:t>
            </a:r>
            <a:r>
              <a:rPr lang="en-US" sz="2000" dirty="0">
                <a:ea typeface="+mn-lt"/>
                <a:cs typeface="+mn-lt"/>
              </a:rPr>
              <a:t> le diverse cultivar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b="1" dirty="0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EBEEEB1E-7B01-A9E5-179E-C8E05D48EB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4771635C-001E-B4BE-6D07-2EF599B6A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8595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CBCE25-E1EC-E331-8B3C-ECE6F23C6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374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it-IT" sz="4000" dirty="0"/>
              <a:t>DAG dell'intera popolazione</a:t>
            </a:r>
            <a:endParaRPr lang="it-IT"/>
          </a:p>
        </p:txBody>
      </p:sp>
      <p:pic>
        <p:nvPicPr>
          <p:cNvPr id="4" name="Segnaposto contenuto 3" descr="Immagine che contiene diagramm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445DBEA7-B53C-2533-BB86-74433FA649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1034" y="1332606"/>
            <a:ext cx="10089930" cy="536365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1740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749730-404C-7476-C125-92B557E14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776"/>
            <a:ext cx="10515600" cy="1325563"/>
          </a:xfrm>
        </p:spPr>
        <p:txBody>
          <a:bodyPr/>
          <a:lstStyle/>
          <a:p>
            <a:pPr algn="ctr"/>
            <a:r>
              <a:rPr lang="it-IT" sz="4000" dirty="0"/>
              <a:t>DAG della cultura v1</a:t>
            </a:r>
            <a:endParaRPr lang="it-IT"/>
          </a:p>
        </p:txBody>
      </p:sp>
      <p:pic>
        <p:nvPicPr>
          <p:cNvPr id="4" name="Segnaposto contenuto 3" descr="Immagine che contiene line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92A7D3CF-3A4C-B14E-4419-24E619BB0B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7311" y="1400246"/>
            <a:ext cx="10037379" cy="513640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8679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egnaposto contenuto 5" descr="Immagine che contiene diagramm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49E3807E-C6B3-D957-E8B3-A15A580D92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6319" y="1165922"/>
            <a:ext cx="10287000" cy="5567474"/>
          </a:xfrm>
          <a:prstGeom prst="rect">
            <a:avLst/>
          </a:prstGeom>
          <a:ln>
            <a:noFill/>
          </a:ln>
        </p:spPr>
      </p:pic>
      <p:sp>
        <p:nvSpPr>
          <p:cNvPr id="5" name="Titolo 1">
            <a:extLst>
              <a:ext uri="{FF2B5EF4-FFF2-40B4-BE49-F238E27FC236}">
                <a16:creationId xmlns:a16="http://schemas.microsoft.com/office/drawing/2014/main" id="{6291395A-101C-7AD1-BC18-FE59EE4AC0ED}"/>
              </a:ext>
            </a:extLst>
          </p:cNvPr>
          <p:cNvSpPr txBox="1">
            <a:spLocks/>
          </p:cNvSpPr>
          <p:nvPr/>
        </p:nvSpPr>
        <p:spPr>
          <a:xfrm>
            <a:off x="838200" y="19677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4000" dirty="0"/>
              <a:t>DAG della cultura v2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80971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egnaposto contenuto 5" descr="Immagine che contiene diagramma, linea, disegno, schizzo&#10;&#10;Il contenuto generato dall&amp;#39;IA potrebbe non essere corretto.">
            <a:extLst>
              <a:ext uri="{FF2B5EF4-FFF2-40B4-BE49-F238E27FC236}">
                <a16:creationId xmlns:a16="http://schemas.microsoft.com/office/drawing/2014/main" id="{6E14B91B-B105-FDDB-BAD0-EE296340D5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9977" y="1170084"/>
            <a:ext cx="10650278" cy="5689002"/>
          </a:xfrm>
          <a:prstGeom prst="rect">
            <a:avLst/>
          </a:prstGeom>
          <a:ln>
            <a:noFill/>
          </a:ln>
        </p:spPr>
      </p:pic>
      <p:sp>
        <p:nvSpPr>
          <p:cNvPr id="5" name="Titolo 1">
            <a:extLst>
              <a:ext uri="{FF2B5EF4-FFF2-40B4-BE49-F238E27FC236}">
                <a16:creationId xmlns:a16="http://schemas.microsoft.com/office/drawing/2014/main" id="{66CF71BD-F5D2-40AB-4158-BB23CD847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311"/>
            <a:ext cx="10515600" cy="1325563"/>
          </a:xfrm>
        </p:spPr>
        <p:txBody>
          <a:bodyPr/>
          <a:lstStyle/>
          <a:p>
            <a:pPr algn="ctr"/>
            <a:r>
              <a:rPr lang="it-IT" sz="4000" dirty="0"/>
              <a:t>DAG della cultura v3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24079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egnaposto contenuto 3" descr="Immagine che contiene frutto, uva, Frutto senza semi, Foglie di vite&#10;&#10;Il contenuto generato dall&amp;#39;IA potrebbe non essere corretto.">
            <a:extLst>
              <a:ext uri="{FF2B5EF4-FFF2-40B4-BE49-F238E27FC236}">
                <a16:creationId xmlns:a16="http://schemas.microsoft.com/office/drawing/2014/main" id="{A1DCBF0C-799A-AF9F-7EE7-DCEC172EF8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64" r="18636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72F080B-A222-0E9A-5A4A-28A14F44D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it-IT" sz="3200" dirty="0"/>
              <a:t>Risultati dai DAG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FCB073A-A957-AEBA-7748-49A43654D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574" y="2718054"/>
            <a:ext cx="7417139" cy="3207258"/>
          </a:xfrm>
        </p:spPr>
        <p:txBody>
          <a:bodyPr anchor="t">
            <a:normAutofit/>
          </a:bodyPr>
          <a:lstStyle/>
          <a:p>
            <a:r>
              <a:rPr lang="en-US" sz="2000" err="1"/>
              <a:t>Popolazione</a:t>
            </a:r>
            <a:r>
              <a:rPr lang="en-US" sz="2000" dirty="0"/>
              <a:t>: </a:t>
            </a:r>
            <a:r>
              <a:rPr lang="en-US" sz="2000" b="1" err="1">
                <a:ea typeface="+mn-lt"/>
                <a:cs typeface="+mn-lt"/>
              </a:rPr>
              <a:t>Oodw</a:t>
            </a:r>
            <a:r>
              <a:rPr lang="en-US" sz="2000" dirty="0">
                <a:ea typeface="+mn-lt"/>
                <a:cs typeface="+mn-lt"/>
              </a:rPr>
              <a:t>, </a:t>
            </a:r>
            <a:r>
              <a:rPr lang="en-US" sz="2000" b="1" dirty="0">
                <a:ea typeface="+mn-lt"/>
                <a:cs typeface="+mn-lt"/>
              </a:rPr>
              <a:t>Hue</a:t>
            </a:r>
            <a:r>
              <a:rPr lang="en-US" sz="2000" dirty="0">
                <a:ea typeface="+mn-lt"/>
                <a:cs typeface="+mn-lt"/>
              </a:rPr>
              <a:t>,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Ttlp</a:t>
            </a:r>
            <a:r>
              <a:rPr lang="en-US" sz="2000" dirty="0">
                <a:ea typeface="+mn-lt"/>
                <a:cs typeface="+mn-lt"/>
              </a:rPr>
              <a:t>,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Prln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</a:rPr>
              <a:t>e</a:t>
            </a:r>
            <a:r>
              <a:rPr lang="en-US" sz="2000" b="1" dirty="0">
                <a:ea typeface="+mn-lt"/>
                <a:cs typeface="+mn-lt"/>
              </a:rPr>
              <a:t> Alch</a:t>
            </a:r>
          </a:p>
          <a:p>
            <a:r>
              <a:rPr lang="en-US" sz="2000" dirty="0"/>
              <a:t>Cultivar v1</a:t>
            </a:r>
            <a:r>
              <a:rPr lang="en-US" sz="2000" b="1" dirty="0"/>
              <a:t>:</a:t>
            </a:r>
            <a:r>
              <a:rPr lang="en-US" sz="2000" dirty="0"/>
              <a:t> </a:t>
            </a:r>
            <a:r>
              <a:rPr lang="en-US" sz="2000" b="1" err="1">
                <a:ea typeface="+mn-lt"/>
                <a:cs typeface="+mn-lt"/>
              </a:rPr>
              <a:t>Prln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b="1" err="1">
                <a:ea typeface="+mn-lt"/>
                <a:cs typeface="+mn-lt"/>
              </a:rPr>
              <a:t>Flvn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b="1" err="1">
                <a:ea typeface="+mn-lt"/>
                <a:cs typeface="+mn-lt"/>
              </a:rPr>
              <a:t>Mgns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</a:rPr>
              <a:t>e </a:t>
            </a:r>
            <a:r>
              <a:rPr lang="en-US" sz="2000" b="1" dirty="0">
                <a:ea typeface="+mn-lt"/>
                <a:cs typeface="+mn-lt"/>
              </a:rPr>
              <a:t>Ash</a:t>
            </a:r>
          </a:p>
          <a:p>
            <a:r>
              <a:rPr lang="en-US" sz="2000" dirty="0">
                <a:ea typeface="+mn-lt"/>
                <a:cs typeface="+mn-lt"/>
              </a:rPr>
              <a:t>Cultivar v2: </a:t>
            </a:r>
            <a:r>
              <a:rPr lang="en-US" sz="2000" b="1" err="1">
                <a:ea typeface="+mn-lt"/>
                <a:cs typeface="+mn-lt"/>
              </a:rPr>
              <a:t>Oodw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b="1" err="1">
                <a:ea typeface="+mn-lt"/>
                <a:cs typeface="+mn-lt"/>
              </a:rPr>
              <a:t>Flvn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</a:rPr>
              <a:t>e </a:t>
            </a:r>
            <a:r>
              <a:rPr lang="en-US" sz="2000" b="1" err="1">
                <a:ea typeface="+mn-lt"/>
                <a:cs typeface="+mn-lt"/>
              </a:rPr>
              <a:t>Prnt</a:t>
            </a:r>
            <a:endParaRPr lang="en-US" sz="2000" b="1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Cultivar v3: </a:t>
            </a:r>
            <a:r>
              <a:rPr lang="en-US" sz="2000" b="1" dirty="0">
                <a:ea typeface="+mn-lt"/>
                <a:cs typeface="+mn-lt"/>
              </a:rPr>
              <a:t>Hue </a:t>
            </a:r>
            <a:r>
              <a:rPr lang="en-US" sz="2000" dirty="0">
                <a:ea typeface="+mn-lt"/>
                <a:cs typeface="+mn-lt"/>
              </a:rPr>
              <a:t>e </a:t>
            </a:r>
            <a:r>
              <a:rPr lang="en-US" sz="2000" b="1" err="1">
                <a:ea typeface="+mn-lt"/>
                <a:cs typeface="+mn-lt"/>
              </a:rPr>
              <a:t>Prnt</a:t>
            </a:r>
            <a:endParaRPr lang="en-US" sz="2000" b="1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i="1" dirty="0">
                <a:ea typeface="+mn-lt"/>
                <a:cs typeface="+mn-lt"/>
              </a:rPr>
              <a:t>Ogni cultivar ha </a:t>
            </a:r>
            <a:r>
              <a:rPr lang="en-US" sz="2400" i="1" dirty="0" err="1">
                <a:ea typeface="+mn-lt"/>
                <a:cs typeface="+mn-lt"/>
              </a:rPr>
              <a:t>almeno</a:t>
            </a:r>
            <a:r>
              <a:rPr lang="en-US" sz="2400" i="1" dirty="0">
                <a:ea typeface="+mn-lt"/>
                <a:cs typeface="+mn-lt"/>
              </a:rPr>
              <a:t> </a:t>
            </a:r>
            <a:r>
              <a:rPr lang="en-US" sz="2400" i="1" dirty="0" err="1">
                <a:ea typeface="+mn-lt"/>
                <a:cs typeface="+mn-lt"/>
              </a:rPr>
              <a:t>una</a:t>
            </a:r>
            <a:r>
              <a:rPr lang="en-US" sz="2400" i="1" dirty="0">
                <a:ea typeface="+mn-lt"/>
                <a:cs typeface="+mn-lt"/>
              </a:rPr>
              <a:t> </a:t>
            </a:r>
            <a:r>
              <a:rPr lang="en-US" sz="2400" i="1" dirty="0" err="1">
                <a:ea typeface="+mn-lt"/>
                <a:cs typeface="+mn-lt"/>
              </a:rPr>
              <a:t>variabile</a:t>
            </a:r>
            <a:r>
              <a:rPr lang="en-US" sz="2400" i="1" dirty="0">
                <a:ea typeface="+mn-lt"/>
                <a:cs typeface="+mn-lt"/>
              </a:rPr>
              <a:t> </a:t>
            </a:r>
            <a:r>
              <a:rPr lang="en-US" sz="2400" i="1" dirty="0" err="1">
                <a:ea typeface="+mn-lt"/>
                <a:cs typeface="+mn-lt"/>
              </a:rPr>
              <a:t>influente</a:t>
            </a:r>
            <a:r>
              <a:rPr lang="en-US" sz="2400" i="1" dirty="0">
                <a:ea typeface="+mn-lt"/>
                <a:cs typeface="+mn-lt"/>
              </a:rPr>
              <a:t> </a:t>
            </a:r>
            <a:r>
              <a:rPr lang="en-US" sz="2400" i="1" dirty="0" err="1">
                <a:ea typeface="+mn-lt"/>
                <a:cs typeface="+mn-lt"/>
              </a:rPr>
              <a:t>nella</a:t>
            </a:r>
            <a:r>
              <a:rPr lang="en-US" sz="2400" i="1" dirty="0">
                <a:ea typeface="+mn-lt"/>
                <a:cs typeface="+mn-lt"/>
              </a:rPr>
              <a:t> </a:t>
            </a:r>
            <a:r>
              <a:rPr lang="en-US" sz="2400" i="1" dirty="0" err="1">
                <a:ea typeface="+mn-lt"/>
                <a:cs typeface="+mn-lt"/>
              </a:rPr>
              <a:t>popolazione</a:t>
            </a:r>
            <a:r>
              <a:rPr lang="en-US" sz="2400" i="1" dirty="0">
                <a:ea typeface="+mn-lt"/>
                <a:cs typeface="+mn-lt"/>
              </a:rPr>
              <a:t> </a:t>
            </a:r>
            <a:r>
              <a:rPr lang="en-US" sz="2400" i="1" dirty="0" err="1">
                <a:ea typeface="+mn-lt"/>
                <a:cs typeface="+mn-lt"/>
              </a:rPr>
              <a:t>che</a:t>
            </a:r>
            <a:r>
              <a:rPr lang="en-US" sz="2400" i="1" dirty="0">
                <a:ea typeface="+mn-lt"/>
                <a:cs typeface="+mn-lt"/>
              </a:rPr>
              <a:t> non compare </a:t>
            </a:r>
            <a:r>
              <a:rPr lang="en-US" sz="2400" i="1" dirty="0" err="1">
                <a:ea typeface="+mn-lt"/>
                <a:cs typeface="+mn-lt"/>
              </a:rPr>
              <a:t>nelle</a:t>
            </a:r>
            <a:r>
              <a:rPr lang="en-US" sz="2400" i="1" dirty="0">
                <a:ea typeface="+mn-lt"/>
                <a:cs typeface="+mn-lt"/>
              </a:rPr>
              <a:t> </a:t>
            </a:r>
            <a:r>
              <a:rPr lang="en-US" sz="2400" i="1" dirty="0" err="1">
                <a:ea typeface="+mn-lt"/>
                <a:cs typeface="+mn-lt"/>
              </a:rPr>
              <a:t>altre</a:t>
            </a:r>
            <a:endParaRPr lang="en-US" sz="2400" i="1" dirty="0" err="1"/>
          </a:p>
        </p:txBody>
      </p:sp>
    </p:spTree>
    <p:extLst>
      <p:ext uri="{BB962C8B-B14F-4D97-AF65-F5344CB8AC3E}">
        <p14:creationId xmlns:p14="http://schemas.microsoft.com/office/powerpoint/2010/main" val="2986200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egnaposto contenuto 5" descr="Immagine che contiene diagramm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2CAE3860-757B-72C9-E14B-6FC089AEB0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8029" y="1241590"/>
            <a:ext cx="9955940" cy="5354167"/>
          </a:xfrm>
          <a:prstGeom prst="rect">
            <a:avLst/>
          </a:prstGeom>
          <a:ln>
            <a:noFill/>
          </a:ln>
        </p:spPr>
      </p:pic>
      <p:sp>
        <p:nvSpPr>
          <p:cNvPr id="5" name="Titolo 1">
            <a:extLst>
              <a:ext uri="{FF2B5EF4-FFF2-40B4-BE49-F238E27FC236}">
                <a16:creationId xmlns:a16="http://schemas.microsoft.com/office/drawing/2014/main" id="{39D8D819-B544-8E75-509F-2CEEC29F2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374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it-IT" sz="4000" dirty="0"/>
              <a:t>DAG del Wine Dataset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84920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BFFB31-7571-3A17-9FEE-6CB0AC1E2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ECB354B-6B6B-F897-40B1-58E19BBF2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egnaposto contenuto 3" descr="Immagine che contiene frutto, uva, Frutto senza semi, Foglie di vite&#10;&#10;Il contenuto generato dall&amp;#39;IA potrebbe non essere corretto.">
            <a:extLst>
              <a:ext uri="{FF2B5EF4-FFF2-40B4-BE49-F238E27FC236}">
                <a16:creationId xmlns:a16="http://schemas.microsoft.com/office/drawing/2014/main" id="{1D1BB9F5-CE2A-C8E6-AC68-3BB7EC573A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64" r="18636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A9916D6-DC8E-E6F8-F95C-04ABABC7E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C30C365-687C-8BD8-EF8C-3C62CE54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it-IT" sz="3200" dirty="0"/>
              <a:t>Regressione Lineare Multipla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457A98-29FA-265A-38A2-5D5E8DC6C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394DD7-42D3-F364-7B13-55C34B7C5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4530B67-B8DD-067B-4588-759D23703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952" y="2718054"/>
            <a:ext cx="5330459" cy="3207258"/>
          </a:xfrm>
        </p:spPr>
        <p:txBody>
          <a:bodyPr anchor="t">
            <a:normAutofit/>
          </a:bodyPr>
          <a:lstStyle/>
          <a:p>
            <a:r>
              <a:rPr lang="en-US" sz="2000" err="1"/>
              <a:t>Stimare</a:t>
            </a:r>
            <a:r>
              <a:rPr lang="en-US" sz="2000" dirty="0"/>
              <a:t> un </a:t>
            </a:r>
            <a:r>
              <a:rPr lang="en-US" sz="2000" err="1"/>
              <a:t>modello</a:t>
            </a:r>
            <a:r>
              <a:rPr lang="en-US" sz="2000" dirty="0"/>
              <a:t>, no </a:t>
            </a:r>
            <a:r>
              <a:rPr lang="en-US" sz="2000" err="1"/>
              <a:t>logica</a:t>
            </a:r>
            <a:r>
              <a:rPr lang="en-US" sz="2000" dirty="0"/>
              <a:t> </a:t>
            </a:r>
            <a:r>
              <a:rPr lang="en-US" sz="2000" err="1"/>
              <a:t>grafica</a:t>
            </a:r>
            <a:endParaRPr lang="it-IT" sz="2000"/>
          </a:p>
          <a:p>
            <a:r>
              <a:rPr lang="en-US" sz="2000" err="1"/>
              <a:t>Analizzare</a:t>
            </a:r>
            <a:r>
              <a:rPr lang="en-US" sz="2000" dirty="0"/>
              <a:t> I </a:t>
            </a:r>
            <a:r>
              <a:rPr lang="en-US" sz="2000" err="1"/>
              <a:t>fattori</a:t>
            </a:r>
            <a:r>
              <a:rPr lang="en-US" sz="2000" dirty="0"/>
              <a:t> </a:t>
            </a:r>
            <a:r>
              <a:rPr lang="en-US" sz="2000" err="1"/>
              <a:t>che</a:t>
            </a:r>
            <a:r>
              <a:rPr lang="en-US" sz="2000" dirty="0"/>
              <a:t> </a:t>
            </a:r>
            <a:r>
              <a:rPr lang="en-US" sz="2000" err="1"/>
              <a:t>influenzano</a:t>
            </a:r>
            <a:r>
              <a:rPr lang="en-US" sz="2000" dirty="0"/>
              <a:t> </a:t>
            </a:r>
            <a:r>
              <a:rPr lang="en-US" sz="2000" b="1" err="1"/>
              <a:t>Clri</a:t>
            </a:r>
            <a:r>
              <a:rPr lang="en-US" sz="2000" b="1" dirty="0"/>
              <a:t> </a:t>
            </a:r>
          </a:p>
          <a:p>
            <a:r>
              <a:rPr lang="en-US" sz="2000" dirty="0"/>
              <a:t>Stima </a:t>
            </a:r>
            <a:r>
              <a:rPr lang="en-US" sz="2000" err="1"/>
              <a:t>grazie</a:t>
            </a:r>
            <a:r>
              <a:rPr lang="en-US" sz="2000" dirty="0"/>
              <a:t> alla </a:t>
            </a:r>
            <a:r>
              <a:rPr lang="en-US" sz="2000" err="1"/>
              <a:t>funzione</a:t>
            </a:r>
            <a:r>
              <a:rPr lang="en-US" sz="2000" b="1" dirty="0"/>
              <a:t> </a:t>
            </a:r>
            <a:r>
              <a:rPr lang="en-US" sz="2000" b="1" err="1"/>
              <a:t>lm</a:t>
            </a:r>
            <a:r>
              <a:rPr lang="en-US" sz="2000" b="1" dirty="0"/>
              <a:t>()</a:t>
            </a:r>
          </a:p>
          <a:p>
            <a:r>
              <a:rPr lang="en-US" sz="2000" err="1"/>
              <a:t>Modello</a:t>
            </a:r>
            <a:r>
              <a:rPr lang="en-US" sz="2000" dirty="0"/>
              <a:t>: </a:t>
            </a:r>
          </a:p>
        </p:txBody>
      </p:sp>
      <p:pic>
        <p:nvPicPr>
          <p:cNvPr id="3" name="Immagine 2" descr="Immagine che contiene Carattere, testo, linea, tipografia&#10;&#10;Il contenuto generato dall&amp;#39;IA potrebbe non essere corretto.">
            <a:extLst>
              <a:ext uri="{FF2B5EF4-FFF2-40B4-BE49-F238E27FC236}">
                <a16:creationId xmlns:a16="http://schemas.microsoft.com/office/drawing/2014/main" id="{00984752-7ED2-EC9E-3931-E3B04083E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0856" y="4321268"/>
            <a:ext cx="4117040" cy="340099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E9364C5-7812-68B5-F52B-B04266C60362}"/>
              </a:ext>
            </a:extLst>
          </p:cNvPr>
          <p:cNvSpPr txBox="1"/>
          <p:nvPr/>
        </p:nvSpPr>
        <p:spPr>
          <a:xfrm>
            <a:off x="369794" y="4905934"/>
            <a:ext cx="558501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it-IT" sz="2000" dirty="0"/>
              <a:t>Selezione automatica grazie a </a:t>
            </a:r>
            <a:r>
              <a:rPr lang="it-IT" sz="2000" b="1" dirty="0"/>
              <a:t>step()</a:t>
            </a:r>
            <a:r>
              <a:rPr lang="it-IT" sz="2000" dirty="0"/>
              <a:t> con criteri </a:t>
            </a:r>
            <a:r>
              <a:rPr lang="it-IT" sz="2000" b="1" dirty="0"/>
              <a:t>AIC</a:t>
            </a:r>
            <a:r>
              <a:rPr lang="it-IT" sz="2000" dirty="0"/>
              <a:t>, </a:t>
            </a:r>
            <a:r>
              <a:rPr lang="it-IT" sz="2000" b="1" dirty="0"/>
              <a:t>BIC </a:t>
            </a:r>
            <a:r>
              <a:rPr lang="it-IT" sz="2000" dirty="0"/>
              <a:t>e andamenti </a:t>
            </a:r>
            <a:r>
              <a:rPr lang="it-IT" sz="2000" b="1" err="1"/>
              <a:t>Forward</a:t>
            </a:r>
            <a:r>
              <a:rPr lang="it-IT" sz="2000" dirty="0"/>
              <a:t>, </a:t>
            </a:r>
            <a:r>
              <a:rPr lang="it-IT" sz="2000" b="1" err="1"/>
              <a:t>Backward</a:t>
            </a:r>
            <a:r>
              <a:rPr lang="it-IT" sz="2000" b="1" dirty="0"/>
              <a:t> </a:t>
            </a:r>
            <a:r>
              <a:rPr lang="it-IT" sz="2000" dirty="0"/>
              <a:t>e </a:t>
            </a:r>
            <a:r>
              <a:rPr lang="it-IT" sz="2000" b="1" err="1"/>
              <a:t>Both</a:t>
            </a:r>
            <a:endParaRPr lang="it-IT" sz="2000" b="1" dirty="0"/>
          </a:p>
          <a:p>
            <a:pPr marL="285750" indent="-285750">
              <a:buFont typeface="Arial"/>
              <a:buChar char="•"/>
            </a:pPr>
            <a:r>
              <a:rPr lang="it-IT" sz="2000" dirty="0"/>
              <a:t>5 casi di studio</a:t>
            </a:r>
          </a:p>
        </p:txBody>
      </p:sp>
    </p:spTree>
    <p:extLst>
      <p:ext uri="{BB962C8B-B14F-4D97-AF65-F5344CB8AC3E}">
        <p14:creationId xmlns:p14="http://schemas.microsoft.com/office/powerpoint/2010/main" val="2848256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99238C-D30F-D4B0-4D60-3482AF3EC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t-IT" sz="4000" dirty="0"/>
              <a:t>Modelli predetti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783A25B4-A716-FA5A-14B6-4561C9EFD6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9666634"/>
              </p:ext>
            </p:extLst>
          </p:nvPr>
        </p:nvGraphicFramePr>
        <p:xfrm>
          <a:off x="389861" y="1550580"/>
          <a:ext cx="11412255" cy="3224953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544746">
                  <a:extLst>
                    <a:ext uri="{9D8B030D-6E8A-4147-A177-3AD203B41FA5}">
                      <a16:colId xmlns:a16="http://schemas.microsoft.com/office/drawing/2014/main" val="967723575"/>
                    </a:ext>
                  </a:extLst>
                </a:gridCol>
                <a:gridCol w="5293981">
                  <a:extLst>
                    <a:ext uri="{9D8B030D-6E8A-4147-A177-3AD203B41FA5}">
                      <a16:colId xmlns:a16="http://schemas.microsoft.com/office/drawing/2014/main" val="2705514234"/>
                    </a:ext>
                  </a:extLst>
                </a:gridCol>
                <a:gridCol w="2573528">
                  <a:extLst>
                    <a:ext uri="{9D8B030D-6E8A-4147-A177-3AD203B41FA5}">
                      <a16:colId xmlns:a16="http://schemas.microsoft.com/office/drawing/2014/main" val="1418357382"/>
                    </a:ext>
                  </a:extLst>
                </a:gridCol>
              </a:tblGrid>
              <a:tr h="4846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Casi di Studio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Predittori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R</a:t>
                      </a:r>
                      <a:r>
                        <a:rPr lang="it-IT" baseline="30000" dirty="0"/>
                        <a:t>2 </a:t>
                      </a:r>
                      <a:r>
                        <a:rPr lang="it-IT" baseline="0" err="1"/>
                        <a:t>Adjusted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738531"/>
                  </a:ext>
                </a:extLst>
              </a:tr>
              <a:tr h="471541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Popolazione Intera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it-IT" sz="1800" i="1" u="none" strike="noStrike" noProof="0" dirty="0"/>
                        <a:t>(+)</a:t>
                      </a:r>
                      <a:r>
                        <a:rPr lang="it-IT" sz="1800" u="none" strike="noStrike" noProof="0" err="1"/>
                        <a:t>Alch</a:t>
                      </a:r>
                      <a:r>
                        <a:rPr lang="it-IT" sz="1800" i="1" u="none" strike="noStrike" noProof="0" dirty="0"/>
                        <a:t>***</a:t>
                      </a:r>
                      <a:r>
                        <a:rPr lang="it-IT" sz="1800" u="none" strike="noStrike" noProof="0" dirty="0"/>
                        <a:t>, </a:t>
                      </a:r>
                      <a:r>
                        <a:rPr lang="it-IT" sz="1800" i="1" u="none" strike="noStrike" noProof="0" dirty="0"/>
                        <a:t>(-)</a:t>
                      </a:r>
                      <a:r>
                        <a:rPr lang="it-IT" sz="1800" u="none" strike="noStrike" noProof="0" err="1"/>
                        <a:t>Hue</a:t>
                      </a:r>
                      <a:r>
                        <a:rPr lang="it-IT" sz="1800" i="1" u="none" strike="noStrike" noProof="0" dirty="0"/>
                        <a:t>***</a:t>
                      </a:r>
                      <a:r>
                        <a:rPr lang="it-IT" sz="1800" u="none" strike="noStrike" noProof="0" dirty="0"/>
                        <a:t>,</a:t>
                      </a:r>
                      <a:r>
                        <a:rPr lang="it-IT" sz="1800" i="1" u="none" strike="noStrike" noProof="0" dirty="0"/>
                        <a:t> (-)</a:t>
                      </a:r>
                      <a:r>
                        <a:rPr lang="it-IT" sz="1800" u="none" strike="noStrike" noProof="0" err="1"/>
                        <a:t>Oodw</a:t>
                      </a:r>
                      <a:r>
                        <a:rPr lang="it-IT" sz="1800" i="1" u="none" strike="noStrike" noProof="0" dirty="0"/>
                        <a:t>***</a:t>
                      </a:r>
                      <a:r>
                        <a:rPr lang="it-IT" sz="1800" u="none" strike="noStrike" noProof="0" dirty="0"/>
                        <a:t>, </a:t>
                      </a:r>
                      <a:r>
                        <a:rPr lang="it-IT" sz="1800" i="1" u="none" strike="noStrike" noProof="0" dirty="0"/>
                        <a:t>(+)</a:t>
                      </a:r>
                      <a:r>
                        <a:rPr lang="it-IT" sz="1800" u="none" strike="noStrike" noProof="0" err="1"/>
                        <a:t>Ttlp</a:t>
                      </a:r>
                      <a:r>
                        <a:rPr lang="it-IT" sz="1800" i="1" u="none" strike="noStrike" noProof="0" dirty="0"/>
                        <a:t>**</a:t>
                      </a:r>
                      <a:r>
                        <a:rPr lang="it-IT" sz="1800" u="none" strike="noStrike" noProof="0" dirty="0"/>
                        <a:t>, </a:t>
                      </a:r>
                      <a:r>
                        <a:rPr lang="it-IT" sz="1800" i="1" u="none" strike="noStrike" noProof="0" dirty="0"/>
                        <a:t>(+)</a:t>
                      </a:r>
                      <a:r>
                        <a:rPr lang="it-IT" sz="1800" u="none" strike="noStrike" noProof="0" err="1"/>
                        <a:t>Prln</a:t>
                      </a:r>
                      <a:r>
                        <a:rPr lang="it-IT" sz="1800" i="1" u="none" strike="noStrike" noProof="0" dirty="0"/>
                        <a:t>**</a:t>
                      </a:r>
                      <a:endParaRPr lang="it-IT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it-IT" sz="1800" u="none" strike="noStrike" noProof="0" dirty="0"/>
                        <a:t>0.6344</a:t>
                      </a:r>
                      <a:endParaRPr lang="it-I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3980998"/>
                  </a:ext>
                </a:extLst>
              </a:tr>
              <a:tr h="471541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Cultivar v1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it-IT" sz="1800" i="1" u="none" strike="noStrike" noProof="0" dirty="0">
                          <a:solidFill>
                            <a:srgbClr val="000000"/>
                          </a:solidFill>
                        </a:rPr>
                        <a:t>(-)</a:t>
                      </a:r>
                      <a:r>
                        <a:rPr lang="it-IT" sz="1800" u="none" strike="noStrike" noProof="0" err="1">
                          <a:solidFill>
                            <a:srgbClr val="000000"/>
                          </a:solidFill>
                        </a:rPr>
                        <a:t>Ash</a:t>
                      </a:r>
                      <a:r>
                        <a:rPr lang="it-IT" sz="1800" i="1" u="none" strike="noStrike" noProof="0" dirty="0">
                          <a:solidFill>
                            <a:srgbClr val="000000"/>
                          </a:solidFill>
                        </a:rPr>
                        <a:t>*</a:t>
                      </a:r>
                      <a:r>
                        <a:rPr lang="it-IT" sz="1800" u="none" strike="noStrike" noProof="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it-IT" sz="1800" i="1" u="none" strike="noStrike" noProof="0" dirty="0">
                          <a:solidFill>
                            <a:srgbClr val="000000"/>
                          </a:solidFill>
                        </a:rPr>
                        <a:t>(+)</a:t>
                      </a:r>
                      <a:r>
                        <a:rPr lang="it-IT" sz="1800" u="none" strike="noStrike" noProof="0" err="1">
                          <a:solidFill>
                            <a:srgbClr val="000000"/>
                          </a:solidFill>
                        </a:rPr>
                        <a:t>Flvn</a:t>
                      </a:r>
                      <a:r>
                        <a:rPr lang="it-IT" sz="1800" i="1" u="none" strike="noStrike" noProof="0" dirty="0">
                          <a:solidFill>
                            <a:srgbClr val="000000"/>
                          </a:solidFill>
                        </a:rPr>
                        <a:t>***</a:t>
                      </a:r>
                      <a:r>
                        <a:rPr lang="it-IT" sz="1800" u="none" strike="noStrike" noProof="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it-IT" sz="1800" i="1" u="none" strike="noStrike" noProof="0" dirty="0">
                          <a:solidFill>
                            <a:srgbClr val="000000"/>
                          </a:solidFill>
                        </a:rPr>
                        <a:t>(+)</a:t>
                      </a:r>
                      <a:r>
                        <a:rPr lang="it-IT" sz="1800" u="none" strike="noStrike" noProof="0" err="1">
                          <a:solidFill>
                            <a:srgbClr val="000000"/>
                          </a:solidFill>
                        </a:rPr>
                        <a:t>Mgns</a:t>
                      </a:r>
                      <a:r>
                        <a:rPr lang="it-IT" sz="1800" i="1" u="none" strike="noStrike" noProof="0" dirty="0">
                          <a:solidFill>
                            <a:srgbClr val="000000"/>
                          </a:solidFill>
                        </a:rPr>
                        <a:t>**</a:t>
                      </a:r>
                      <a:r>
                        <a:rPr lang="it-IT" sz="1800" u="none" strike="noStrike" noProof="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it-IT" sz="1800" i="1" u="none" strike="noStrike" noProof="0" dirty="0">
                          <a:solidFill>
                            <a:srgbClr val="000000"/>
                          </a:solidFill>
                        </a:rPr>
                        <a:t>(+)</a:t>
                      </a:r>
                      <a:r>
                        <a:rPr lang="it-IT" sz="1800" u="none" strike="noStrike" noProof="0" err="1">
                          <a:solidFill>
                            <a:srgbClr val="000000"/>
                          </a:solidFill>
                        </a:rPr>
                        <a:t>Prln</a:t>
                      </a:r>
                      <a:r>
                        <a:rPr lang="it-IT" sz="1800" i="1" u="none" strike="noStrike" noProof="0" dirty="0">
                          <a:solidFill>
                            <a:srgbClr val="000000"/>
                          </a:solidFill>
                        </a:rPr>
                        <a:t>***</a:t>
                      </a:r>
                      <a:endParaRPr lang="it-IT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it-IT" sz="1800" u="none" strike="noStrike" noProof="0" dirty="0"/>
                        <a:t>0.6899</a:t>
                      </a:r>
                      <a:endParaRPr lang="it-I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6376188"/>
                  </a:ext>
                </a:extLst>
              </a:tr>
              <a:tr h="471541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Cultivar 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it-IT" sz="1800" i="1" u="none" strike="noStrike" noProof="0" dirty="0"/>
                        <a:t>(+)</a:t>
                      </a:r>
                      <a:r>
                        <a:rPr lang="it-IT" sz="1800" u="none" strike="noStrike" noProof="0" err="1"/>
                        <a:t>Flvn</a:t>
                      </a:r>
                      <a:r>
                        <a:rPr lang="it-IT" sz="1800" i="1" u="none" strike="noStrike" noProof="0" dirty="0"/>
                        <a:t>***</a:t>
                      </a:r>
                      <a:r>
                        <a:rPr lang="it-IT" sz="1800" u="none" strike="noStrike" noProof="0" dirty="0"/>
                        <a:t>, </a:t>
                      </a:r>
                      <a:r>
                        <a:rPr lang="it-IT" sz="1800" i="1" u="none" strike="noStrike" noProof="0" dirty="0"/>
                        <a:t>(-)</a:t>
                      </a:r>
                      <a:r>
                        <a:rPr lang="it-IT" sz="1800" u="none" strike="noStrike" noProof="0" err="1"/>
                        <a:t>Oodw</a:t>
                      </a:r>
                      <a:r>
                        <a:rPr lang="it-IT" sz="1800" i="1" u="none" strike="noStrike" noProof="0" dirty="0"/>
                        <a:t>**</a:t>
                      </a:r>
                      <a:r>
                        <a:rPr lang="it-IT" sz="1800" u="none" strike="noStrike" noProof="0" dirty="0"/>
                        <a:t>,</a:t>
                      </a:r>
                      <a:r>
                        <a:rPr lang="it-IT" sz="1800" i="1" u="none" strike="noStrike" noProof="0" dirty="0"/>
                        <a:t> (-)</a:t>
                      </a:r>
                      <a:r>
                        <a:rPr lang="it-IT" sz="1800" u="none" strike="noStrike" noProof="0" err="1"/>
                        <a:t>Prnt</a:t>
                      </a:r>
                      <a:r>
                        <a:rPr lang="it-IT" sz="1800" i="1" u="none" strike="noStrike" noProof="0" dirty="0"/>
                        <a:t>***</a:t>
                      </a:r>
                      <a:r>
                        <a:rPr lang="it-IT" sz="1800" u="none" strike="noStrike" noProof="0" dirty="0"/>
                        <a:t>, </a:t>
                      </a:r>
                      <a:r>
                        <a:rPr lang="it-IT" sz="1800" i="1" u="none" strike="noStrike" noProof="0" dirty="0"/>
                        <a:t>(+)</a:t>
                      </a:r>
                      <a:r>
                        <a:rPr lang="it-IT" sz="1800" u="none" strike="noStrike" noProof="0" err="1"/>
                        <a:t>Prln</a:t>
                      </a:r>
                      <a:r>
                        <a:rPr lang="it-IT" sz="1800" i="1" u="none" strike="noStrike" noProof="0" dirty="0"/>
                        <a:t>**</a:t>
                      </a:r>
                      <a:r>
                        <a:rPr lang="it-IT" sz="1800" u="none" strike="noStrike" noProof="0" dirty="0"/>
                        <a:t>, </a:t>
                      </a:r>
                      <a:r>
                        <a:rPr lang="it-IT" sz="1800" i="1" u="none" strike="noStrike" noProof="0" dirty="0"/>
                        <a:t>(-)</a:t>
                      </a:r>
                      <a:r>
                        <a:rPr lang="it-IT" sz="1800" u="none" strike="noStrike" noProof="0" err="1"/>
                        <a:t>Ttlp</a:t>
                      </a:r>
                      <a:r>
                        <a:rPr lang="it-IT" sz="1800" i="1" u="none" strike="noStrike" noProof="0" dirty="0"/>
                        <a:t>**</a:t>
                      </a:r>
                      <a:r>
                        <a:rPr lang="it-IT" sz="1800" u="none" strike="noStrike" noProof="0" dirty="0"/>
                        <a:t>, </a:t>
                      </a:r>
                      <a:r>
                        <a:rPr lang="it-IT" sz="1800" i="1" u="none" strike="noStrike" noProof="0" dirty="0"/>
                        <a:t>(-)</a:t>
                      </a:r>
                      <a:r>
                        <a:rPr lang="it-IT" sz="1800" u="none" strike="noStrike" noProof="0" err="1"/>
                        <a:t>Aloa</a:t>
                      </a:r>
                      <a:r>
                        <a:rPr lang="it-IT" sz="1800" u="none" strike="noStrike" noProof="0" dirty="0"/>
                        <a:t>*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it-IT" sz="1800" u="none" strike="noStrike" noProof="0" dirty="0"/>
                        <a:t>0.448</a:t>
                      </a:r>
                      <a:endParaRPr lang="it-I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3188543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Cultivar v3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i="1" dirty="0"/>
                        <a:t>(+)</a:t>
                      </a:r>
                      <a:r>
                        <a:rPr lang="it-IT" dirty="0" err="1"/>
                        <a:t>Prnt</a:t>
                      </a:r>
                      <a:r>
                        <a:rPr lang="it-IT" i="1" dirty="0"/>
                        <a:t>***</a:t>
                      </a:r>
                      <a:r>
                        <a:rPr lang="it-IT" dirty="0"/>
                        <a:t>, </a:t>
                      </a:r>
                      <a:r>
                        <a:rPr lang="it-IT" i="1" dirty="0"/>
                        <a:t>(-)</a:t>
                      </a:r>
                      <a:r>
                        <a:rPr lang="it-IT" dirty="0" err="1"/>
                        <a:t>Hue</a:t>
                      </a:r>
                      <a:r>
                        <a:rPr lang="it-IT" i="1" dirty="0"/>
                        <a:t>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it-IT" sz="1800" u="none" strike="noStrike" noProof="0" dirty="0"/>
                        <a:t>0.5449</a:t>
                      </a:r>
                      <a:endParaRPr lang="it-I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9134592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Wine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it-IT" sz="1800" i="1" u="none" strike="noStrike" noProof="0" dirty="0"/>
                        <a:t>(+)</a:t>
                      </a:r>
                      <a:r>
                        <a:rPr lang="it-IT" sz="1800" u="none" strike="noStrike" noProof="0" dirty="0"/>
                        <a:t>Cult</a:t>
                      </a:r>
                      <a:r>
                        <a:rPr lang="it-IT" sz="1800" i="1" u="none" strike="noStrike" noProof="0" dirty="0"/>
                        <a:t>**,</a:t>
                      </a:r>
                      <a:r>
                        <a:rPr lang="it-IT" sz="1800" u="none" strike="noStrike" noProof="0" dirty="0"/>
                        <a:t> </a:t>
                      </a:r>
                      <a:r>
                        <a:rPr lang="it-IT" sz="1800" i="1" u="none" strike="noStrike" noProof="0" dirty="0"/>
                        <a:t>(+)</a:t>
                      </a:r>
                      <a:r>
                        <a:rPr lang="it-IT" sz="1800" u="none" strike="noStrike" noProof="0" err="1"/>
                        <a:t>Flvn</a:t>
                      </a:r>
                      <a:r>
                        <a:rPr lang="it-IT" sz="1800" i="1" u="none" strike="noStrike" noProof="0" dirty="0"/>
                        <a:t>***</a:t>
                      </a:r>
                      <a:r>
                        <a:rPr lang="it-IT" sz="1800" u="none" strike="noStrike" noProof="0" dirty="0"/>
                        <a:t>, </a:t>
                      </a:r>
                      <a:r>
                        <a:rPr lang="it-IT" sz="1800" i="1" u="none" strike="noStrike" noProof="0" dirty="0"/>
                        <a:t>(+)</a:t>
                      </a:r>
                      <a:r>
                        <a:rPr lang="it-IT" sz="1800" u="none" strike="noStrike" noProof="0" err="1"/>
                        <a:t>Alch</a:t>
                      </a:r>
                      <a:r>
                        <a:rPr lang="it-IT" sz="1800" i="1" u="none" strike="noStrike" noProof="0" dirty="0"/>
                        <a:t>***</a:t>
                      </a:r>
                      <a:r>
                        <a:rPr lang="it-IT" sz="1800" u="none" strike="noStrike" noProof="0" dirty="0"/>
                        <a:t>, </a:t>
                      </a:r>
                      <a:r>
                        <a:rPr lang="it-IT" sz="1800" i="1" u="none" strike="noStrike" noProof="0" dirty="0"/>
                        <a:t>(-)</a:t>
                      </a:r>
                      <a:r>
                        <a:rPr lang="it-IT" sz="1800" u="none" strike="noStrike" noProof="0" err="1"/>
                        <a:t>Oodw</a:t>
                      </a:r>
                      <a:r>
                        <a:rPr lang="it-IT" sz="1800" i="1" u="none" strike="noStrike" noProof="0" dirty="0"/>
                        <a:t>**</a:t>
                      </a:r>
                      <a:r>
                        <a:rPr lang="it-IT" sz="1800" u="none" strike="noStrike" noProof="0" dirty="0"/>
                        <a:t>, </a:t>
                      </a:r>
                      <a:r>
                        <a:rPr lang="it-IT" sz="1800" i="1" u="none" strike="noStrike" noProof="0" dirty="0"/>
                        <a:t>(+)</a:t>
                      </a:r>
                      <a:r>
                        <a:rPr lang="it-IT" sz="1800" u="none" strike="noStrike" noProof="0" err="1"/>
                        <a:t>Prln</a:t>
                      </a:r>
                      <a:r>
                        <a:rPr lang="it-IT" sz="1800" i="1" u="none" strike="noStrike" noProof="0" dirty="0"/>
                        <a:t>**</a:t>
                      </a:r>
                      <a:r>
                        <a:rPr lang="it-IT" sz="1800" u="none" strike="noStrike" noProof="0" dirty="0"/>
                        <a:t>, </a:t>
                      </a:r>
                      <a:r>
                        <a:rPr lang="it-IT" sz="1800" i="1" u="none" strike="noStrike" noProof="0" dirty="0"/>
                        <a:t>(-)</a:t>
                      </a:r>
                      <a:r>
                        <a:rPr lang="it-IT" sz="1800" u="none" strike="noStrike" noProof="0" err="1"/>
                        <a:t>Hue</a:t>
                      </a:r>
                      <a:r>
                        <a:rPr lang="it-IT" sz="1800" i="1" u="none" strike="noStrike" noProof="0" dirty="0"/>
                        <a:t>***</a:t>
                      </a:r>
                      <a:r>
                        <a:rPr lang="it-IT" sz="1800" u="none" strike="noStrike" noProof="0" dirty="0"/>
                        <a:t>, </a:t>
                      </a:r>
                      <a:r>
                        <a:rPr lang="it-IT" sz="1800" i="1" u="none" strike="noStrike" noProof="0" dirty="0"/>
                        <a:t>(-)</a:t>
                      </a:r>
                      <a:r>
                        <a:rPr lang="it-IT" sz="1800" u="none" strike="noStrike" noProof="0" err="1"/>
                        <a:t>Mlca</a:t>
                      </a:r>
                      <a:r>
                        <a:rPr lang="it-IT" sz="1800" i="1" u="none" strike="noStrike" noProof="0" dirty="0"/>
                        <a:t>**</a:t>
                      </a:r>
                      <a:endParaRPr lang="it-IT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it-IT" sz="1800" u="none" strike="noStrike" noProof="0" dirty="0"/>
                        <a:t>0.721</a:t>
                      </a:r>
                      <a:endParaRPr lang="it-I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8901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2158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C35AF5-6E82-405A-8392-D892D21A3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F10350C-DD0F-B4ED-F737-7128FE23A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egnaposto contenuto 3" descr="Immagine che contiene frutto, uva, Frutto senza semi, Foglie di vite&#10;&#10;Il contenuto generato dall&amp;#39;IA potrebbe non essere corretto.">
            <a:extLst>
              <a:ext uri="{FF2B5EF4-FFF2-40B4-BE49-F238E27FC236}">
                <a16:creationId xmlns:a16="http://schemas.microsoft.com/office/drawing/2014/main" id="{DF6DC437-9DC6-D681-1885-F6D32BA01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64" r="18636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3D7CEEB-2644-C469-7B4C-A79ACE2BD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340DC70-BE26-A076-2045-AB20E2D77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it-IT" sz="3200" dirty="0"/>
              <a:t>Conclusioni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F4722D-AE42-0CF8-B058-CB2D8AC26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349367-BBD0-E872-1423-2A1849514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6B63E61-05EC-C259-72D1-6D310542B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56" y="2718054"/>
            <a:ext cx="7204603" cy="364142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 err="1"/>
              <a:t>Panoramica</a:t>
            </a:r>
            <a:r>
              <a:rPr lang="en-US" sz="2000" dirty="0"/>
              <a:t> generale e </a:t>
            </a:r>
            <a:r>
              <a:rPr lang="en-US" sz="2000" dirty="0" err="1"/>
              <a:t>specifica</a:t>
            </a:r>
            <a:r>
              <a:rPr lang="en-US" sz="2000" dirty="0"/>
              <a:t> del </a:t>
            </a:r>
            <a:r>
              <a:rPr lang="en-US" sz="2000" dirty="0" err="1"/>
              <a:t>comportamento</a:t>
            </a:r>
            <a:r>
              <a:rPr lang="en-US" sz="2000" dirty="0"/>
              <a:t> di </a:t>
            </a:r>
            <a:r>
              <a:rPr lang="en-US" sz="2000" b="1" dirty="0" err="1"/>
              <a:t>Clri</a:t>
            </a:r>
            <a:endParaRPr lang="en-US" sz="2000" b="1"/>
          </a:p>
          <a:p>
            <a:r>
              <a:rPr lang="en-US" sz="2000" err="1">
                <a:ea typeface="+mn-lt"/>
                <a:cs typeface="+mn-lt"/>
              </a:rPr>
              <a:t>Variabili</a:t>
            </a:r>
            <a:r>
              <a:rPr lang="en-US" sz="2000" dirty="0">
                <a:ea typeface="+mn-lt"/>
                <a:cs typeface="+mn-lt"/>
              </a:rPr>
              <a:t> significative </a:t>
            </a:r>
            <a:r>
              <a:rPr lang="en-US" sz="2000" err="1">
                <a:ea typeface="+mn-lt"/>
                <a:cs typeface="+mn-lt"/>
              </a:rPr>
              <a:t>nelle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analisi</a:t>
            </a:r>
            <a:r>
              <a:rPr lang="en-US" sz="2000" dirty="0">
                <a:ea typeface="+mn-lt"/>
                <a:cs typeface="+mn-lt"/>
              </a:rPr>
              <a:t> separate </a:t>
            </a:r>
            <a:r>
              <a:rPr lang="en-US" sz="2000" err="1">
                <a:ea typeface="+mn-lt"/>
                <a:cs typeface="+mn-lt"/>
              </a:rPr>
              <a:t>perdono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rilevanza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nel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contesto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globale</a:t>
            </a:r>
            <a:endParaRPr lang="en-US" sz="2000">
              <a:ea typeface="+mn-lt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Cult</a:t>
            </a:r>
            <a:r>
              <a:rPr lang="en-US" sz="2000" dirty="0">
                <a:ea typeface="+mn-lt"/>
                <a:cs typeface="+mn-lt"/>
              </a:rPr>
              <a:t>  </a:t>
            </a:r>
            <a:r>
              <a:rPr lang="en-US" sz="2000" err="1">
                <a:ea typeface="+mn-lt"/>
                <a:cs typeface="+mn-lt"/>
              </a:rPr>
              <a:t>rappresenti</a:t>
            </a:r>
            <a:r>
              <a:rPr lang="en-US" sz="2000" dirty="0">
                <a:ea typeface="+mn-lt"/>
                <a:cs typeface="+mn-lt"/>
              </a:rPr>
              <a:t> un </a:t>
            </a:r>
            <a:r>
              <a:rPr lang="en-US" sz="2000" err="1">
                <a:ea typeface="+mn-lt"/>
                <a:cs typeface="+mn-lt"/>
              </a:rPr>
              <a:t>fattore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discriminante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nella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determinazione</a:t>
            </a:r>
            <a:r>
              <a:rPr lang="en-US" sz="2000" dirty="0">
                <a:ea typeface="+mn-lt"/>
                <a:cs typeface="+mn-lt"/>
              </a:rPr>
              <a:t> della </a:t>
            </a:r>
            <a:r>
              <a:rPr lang="en-US" sz="2000" err="1">
                <a:ea typeface="+mn-lt"/>
                <a:cs typeface="+mn-lt"/>
              </a:rPr>
              <a:t>variabile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Clri</a:t>
            </a:r>
            <a:endParaRPr lang="en-US" sz="2000" b="1">
              <a:ea typeface="+mn-lt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Cult </a:t>
            </a:r>
            <a:r>
              <a:rPr lang="en-US" sz="2000" err="1">
                <a:ea typeface="+mn-lt"/>
                <a:cs typeface="+mn-lt"/>
              </a:rPr>
              <a:t>risulta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essere</a:t>
            </a:r>
            <a:r>
              <a:rPr lang="en-US" sz="2000" dirty="0">
                <a:ea typeface="+mn-lt"/>
                <a:cs typeface="+mn-lt"/>
              </a:rPr>
              <a:t> un </a:t>
            </a:r>
            <a:r>
              <a:rPr lang="en-US" sz="2000" err="1">
                <a:ea typeface="+mn-lt"/>
                <a:cs typeface="+mn-lt"/>
              </a:rPr>
              <a:t>nodo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antenato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dell’intera</a:t>
            </a:r>
            <a:r>
              <a:rPr lang="en-US" sz="2000" dirty="0">
                <a:ea typeface="+mn-lt"/>
                <a:cs typeface="+mn-lt"/>
              </a:rPr>
              <a:t> rete</a:t>
            </a:r>
          </a:p>
          <a:p>
            <a:r>
              <a:rPr lang="en-US" sz="2000" dirty="0">
                <a:ea typeface="+mn-lt"/>
                <a:cs typeface="+mn-lt"/>
              </a:rPr>
              <a:t>In </a:t>
            </a:r>
            <a:r>
              <a:rPr lang="en-US" sz="2000" err="1">
                <a:ea typeface="+mn-lt"/>
                <a:cs typeface="+mn-lt"/>
              </a:rPr>
              <a:t>alcuni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contesti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modelli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predetti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rispettano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grafici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dirty="0">
                <a:ea typeface="+mn-lt"/>
                <a:cs typeface="+mn-lt"/>
              </a:rPr>
              <a:t>DAG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ottenuti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err="1">
                <a:ea typeface="+mn-lt"/>
                <a:cs typeface="+mn-lt"/>
              </a:rPr>
              <a:t>mentre</a:t>
            </a:r>
            <a:r>
              <a:rPr lang="en-US" sz="2000" dirty="0">
                <a:ea typeface="+mn-lt"/>
                <a:cs typeface="+mn-lt"/>
              </a:rPr>
              <a:t> in </a:t>
            </a:r>
            <a:r>
              <a:rPr lang="en-US" sz="2000" err="1">
                <a:ea typeface="+mn-lt"/>
                <a:cs typeface="+mn-lt"/>
              </a:rPr>
              <a:t>altri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si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riscontra</a:t>
            </a:r>
            <a:r>
              <a:rPr lang="en-US" sz="2000" dirty="0">
                <a:ea typeface="+mn-lt"/>
                <a:cs typeface="+mn-lt"/>
              </a:rPr>
              <a:t> la </a:t>
            </a:r>
            <a:r>
              <a:rPr lang="en-US" sz="2000" err="1">
                <a:ea typeface="+mn-lt"/>
                <a:cs typeface="+mn-lt"/>
              </a:rPr>
              <a:t>necessità</a:t>
            </a:r>
            <a:r>
              <a:rPr lang="en-US" sz="2000" dirty="0">
                <a:ea typeface="+mn-lt"/>
                <a:cs typeface="+mn-lt"/>
              </a:rPr>
              <a:t> di </a:t>
            </a:r>
            <a:r>
              <a:rPr lang="en-US" sz="2000" err="1">
                <a:ea typeface="+mn-lt"/>
                <a:cs typeface="+mn-lt"/>
              </a:rPr>
              <a:t>usare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variabili</a:t>
            </a:r>
            <a:r>
              <a:rPr lang="en-US" sz="2000" dirty="0">
                <a:ea typeface="+mn-lt"/>
                <a:cs typeface="+mn-lt"/>
              </a:rPr>
              <a:t> diverse o </a:t>
            </a:r>
            <a:r>
              <a:rPr lang="en-US" sz="2000" err="1">
                <a:ea typeface="+mn-lt"/>
                <a:cs typeface="+mn-lt"/>
              </a:rPr>
              <a:t>più</a:t>
            </a:r>
            <a:r>
              <a:rPr lang="en-US" sz="2000" dirty="0">
                <a:ea typeface="+mn-lt"/>
                <a:cs typeface="+mn-lt"/>
              </a:rPr>
              <a:t> </a:t>
            </a:r>
            <a:r>
              <a:rPr lang="en-US" sz="2000" err="1">
                <a:ea typeface="+mn-lt"/>
                <a:cs typeface="+mn-lt"/>
              </a:rPr>
              <a:t>predittori</a:t>
            </a:r>
            <a:r>
              <a:rPr lang="en-US" sz="2000" dirty="0">
                <a:ea typeface="+mn-lt"/>
                <a:cs typeface="+mn-lt"/>
              </a:rPr>
              <a:t>.</a:t>
            </a:r>
          </a:p>
          <a:p>
            <a:r>
              <a:rPr lang="en-US" sz="2000" dirty="0" err="1"/>
              <a:t>Esistono</a:t>
            </a:r>
            <a:r>
              <a:rPr lang="en-US" sz="2000" dirty="0"/>
              <a:t> </a:t>
            </a:r>
            <a:r>
              <a:rPr lang="en-US" sz="2000" dirty="0" err="1"/>
              <a:t>variabili</a:t>
            </a:r>
            <a:r>
              <a:rPr lang="en-US" sz="2000" dirty="0"/>
              <a:t> </a:t>
            </a:r>
            <a:r>
              <a:rPr lang="en-US" sz="2000" dirty="0" err="1"/>
              <a:t>trasversali</a:t>
            </a:r>
            <a:r>
              <a:rPr lang="en-US" sz="2000" dirty="0"/>
              <a:t> (</a:t>
            </a:r>
            <a:r>
              <a:rPr lang="en-US" sz="2000" b="1" dirty="0" err="1"/>
              <a:t>Flvn</a:t>
            </a:r>
            <a:r>
              <a:rPr lang="en-US" sz="2000" dirty="0"/>
              <a:t>, </a:t>
            </a:r>
            <a:r>
              <a:rPr lang="en-US" sz="2000" b="1" dirty="0"/>
              <a:t>Alch</a:t>
            </a:r>
            <a:r>
              <a:rPr lang="en-US" sz="2000" dirty="0"/>
              <a:t>, </a:t>
            </a:r>
            <a:r>
              <a:rPr lang="en-US" sz="2000" b="1" dirty="0"/>
              <a:t>Hue </a:t>
            </a:r>
            <a:r>
              <a:rPr lang="en-US" sz="2000" dirty="0"/>
              <a:t>e </a:t>
            </a:r>
            <a:r>
              <a:rPr lang="en-US" sz="2000" b="1" dirty="0" err="1"/>
              <a:t>Oodw</a:t>
            </a:r>
            <a:r>
              <a:rPr lang="en-US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593196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1" baseType="lpstr">
      <vt:lpstr>Tema di Office</vt:lpstr>
      <vt:lpstr>Analisi e Modellazione statistica su Wine Dataset</vt:lpstr>
      <vt:lpstr>Obiettivo</vt:lpstr>
      <vt:lpstr>Pre-Processing</vt:lpstr>
      <vt:lpstr>Approccio metodologico</vt:lpstr>
      <vt:lpstr>Analisi Esplorativa</vt:lpstr>
      <vt:lpstr>Statistiche descrittive </vt:lpstr>
      <vt:lpstr>Presentazione standard di PowerPoint</vt:lpstr>
      <vt:lpstr>Presentazione standard di PowerPoint</vt:lpstr>
      <vt:lpstr>Modelli Grafici Indiretti </vt:lpstr>
      <vt:lpstr>Risultati ottenuti</vt:lpstr>
      <vt:lpstr>Modelli Grafici Diretti </vt:lpstr>
      <vt:lpstr>DAG dell'intera popolazione</vt:lpstr>
      <vt:lpstr>DAG della cultura v1</vt:lpstr>
      <vt:lpstr>Presentazione standard di PowerPoint</vt:lpstr>
      <vt:lpstr>DAG della cultura v3</vt:lpstr>
      <vt:lpstr>Risultati dai DAG</vt:lpstr>
      <vt:lpstr>DAG del Wine Dataset</vt:lpstr>
      <vt:lpstr>Regressione Lineare Multipla</vt:lpstr>
      <vt:lpstr>Modelli predetti</vt:lpstr>
      <vt:lpstr>Conclusioni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935</cp:revision>
  <dcterms:created xsi:type="dcterms:W3CDTF">2026-02-16T12:13:31Z</dcterms:created>
  <dcterms:modified xsi:type="dcterms:W3CDTF">2026-02-22T11:48:27Z</dcterms:modified>
</cp:coreProperties>
</file>